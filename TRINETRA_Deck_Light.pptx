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61520" cy="6858000"/>
  <p:notesSz cx="6858000" cy="121615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C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058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b="1" spc="400" kern="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TRIN</a:t>
            </a:r>
            <a:pPr algn="l" indent="0" marL="0">
              <a:buNone/>
            </a:pPr>
            <a:r>
              <a:rPr lang="en-US" sz="6600" b="1" spc="400" kern="0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△</a:t>
            </a:r>
            <a:pPr algn="l" indent="0" marL="0">
              <a:buNone/>
            </a:pPr>
            <a:r>
              <a:rPr lang="en-US" sz="6600" b="1" spc="400" kern="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ETRA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658368" y="22860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 AI that argues — under rules you wrote.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58368" y="2999232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 for sense-making and constitutional auditing · deterministic logic for scoring · humans for final approval. Every step hash-chained, byte-identical, offline.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732520" y="1005840"/>
            <a:ext cx="292608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732520" y="1234440"/>
            <a:ext cx="2926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0" b="1" dirty="0">
                <a:solidFill>
                  <a:srgbClr val="1E8E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4:07</a:t>
            </a:r>
            <a:endParaRPr lang="en-US" sz="7800" dirty="0"/>
          </a:p>
        </p:txBody>
      </p:sp>
      <p:sp>
        <p:nvSpPr>
          <p:cNvPr id="9" name="Text 7"/>
          <p:cNvSpPr/>
          <p:nvPr/>
        </p:nvSpPr>
        <p:spPr>
          <a:xfrm>
            <a:off x="8732520" y="24505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spc="200" kern="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TRINETRA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732520" y="276148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32520" y="3072384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strike="sngStrike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 DAYS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8732520" y="37673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INDIA · MARCH 2026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4892040"/>
            <a:ext cx="35661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4892040"/>
            <a:ext cx="54864" cy="914400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04748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PROPOSE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22960" y="54406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 AI suggests moves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89120" y="4892040"/>
            <a:ext cx="35661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89120" y="4892040"/>
            <a:ext cx="54864" cy="914400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0" y="504748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ENFORCE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572000" y="54406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machine—not a model—checks the rules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138160" y="4892040"/>
            <a:ext cx="35661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38160" y="4892040"/>
            <a:ext cx="54864" cy="914400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23" name="Text 21"/>
          <p:cNvSpPr/>
          <p:nvPr/>
        </p:nvSpPr>
        <p:spPr>
          <a:xfrm>
            <a:off x="8321040" y="504748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RECORD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321040" y="54406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step hash-chained, offline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ET AI Hackathon 2026  ·  100% client-side, offline  ·  deterministic, byte-identical replay  ·  zero-LLM critic  ·  live on-screen decision clock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C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775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COST OF A DELIBERATION PROBLEM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E3DFD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 March 2026, India needed six days to answer one question.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02920" y="141732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Not a data problem — a deliberation problem. The buffer isn't barrels; it's decision speed.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553212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011680"/>
            <a:ext cx="64008" cy="932688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08483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E8E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$100M+</a:t>
            </a:r>
            <a:endParaRPr lang="en-US" sz="2900" dirty="0"/>
          </a:p>
        </p:txBody>
      </p:sp>
      <p:sp>
        <p:nvSpPr>
          <p:cNvPr id="11" name="Text 9"/>
          <p:cNvSpPr/>
          <p:nvPr/>
        </p:nvSpPr>
        <p:spPr>
          <a:xfrm>
            <a:off x="731520" y="257860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₹850+ cr — cost of the six-day decision lag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063240" y="213969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price path R · spot share 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02920" y="3035808"/>
            <a:ext cx="553212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3035808"/>
            <a:ext cx="64008" cy="932688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1089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E8E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$270M</a:t>
            </a:r>
            <a:endParaRPr lang="en-US" sz="2900" dirty="0"/>
          </a:p>
        </p:txBody>
      </p:sp>
      <p:sp>
        <p:nvSpPr>
          <p:cNvPr id="16" name="Text 14"/>
          <p:cNvSpPr/>
          <p:nvPr/>
        </p:nvSpPr>
        <p:spPr>
          <a:xfrm>
            <a:off x="731520" y="3602736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SPR day burned at the peak, refilled later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063240" y="316382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arithmetic R · attribution 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02920" y="4059936"/>
            <a:ext cx="553212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4059936"/>
            <a:ext cx="64008" cy="932688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413308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E8E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$30–45M</a:t>
            </a:r>
            <a:endParaRPr lang="en-US" sz="2900" dirty="0"/>
          </a:p>
        </p:txBody>
      </p:sp>
      <p:sp>
        <p:nvSpPr>
          <p:cNvPr id="21" name="Text 19"/>
          <p:cNvSpPr/>
          <p:nvPr/>
        </p:nvSpPr>
        <p:spPr>
          <a:xfrm>
            <a:off x="731520" y="462686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VLCC bought in panic instead of on time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063240" y="41879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 — from the tape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5102352"/>
            <a:ext cx="5532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Base inputs (R): imports ~4.9 mb/d (PPAC); Brent $71→$77→$100+→$126 (EIA). The app computes this live and stamps it “order-of-magnitude.”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309360" y="2011680"/>
            <a:ext cx="53492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09360" y="2011680"/>
            <a:ext cx="64008" cy="1417320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26" name="Text 24"/>
          <p:cNvSpPr/>
          <p:nvPr/>
        </p:nvSpPr>
        <p:spPr>
          <a:xfrm>
            <a:off x="6537960" y="2157984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“My comfort point used to be 60-60-60 — 60 days of crude, gas and LPG.”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— Hardeep Singh Puri, Union Minister for Petroleum &amp; Natural Gas, 2026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1018520" y="3108960"/>
            <a:ext cx="457200" cy="256032"/>
          </a:xfrm>
          <a:prstGeom prst="rect">
            <a:avLst/>
          </a:prstGeom>
          <a:solidFill>
            <a:srgbClr val="1E8E56"/>
          </a:solidFill>
          <a:ln/>
        </p:spPr>
      </p:sp>
      <p:sp>
        <p:nvSpPr>
          <p:cNvPr id="28" name="Text 26"/>
          <p:cNvSpPr/>
          <p:nvPr/>
        </p:nvSpPr>
        <p:spPr>
          <a:xfrm>
            <a:off x="11018520" y="310896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309360" y="3584448"/>
            <a:ext cx="53492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IT COSTS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92240" y="400507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$150K</a:t>
            </a:r>
            <a:pPr algn="l" indent="0" marL="0">
              <a:buNone/>
            </a:pPr>
            <a:r>
              <a:rPr lang="en-US" sz="14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desk / year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492240" y="457200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Breakeven </a:t>
            </a:r>
            <a:pPr algn="l" indent="0" marL="0">
              <a:buNone/>
            </a:pPr>
            <a:r>
              <a:rPr lang="en-US" sz="12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$0.0003/bbl</a:t>
            </a:r>
            <a:pPr algn="l" indent="0" marL="0">
              <a:buNone/>
            </a:pPr>
            <a:r>
              <a:rPr lang="en-US" sz="12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 ·   ROI </a:t>
            </a:r>
            <a:pPr algn="l" indent="0" marL="0">
              <a:buNone/>
            </a:pPr>
            <a:r>
              <a:rPr lang="en-US" sz="12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~200×</a:t>
            </a:r>
            <a:pPr algn="l" indent="0" marL="0">
              <a:buNone/>
            </a:pPr>
            <a:r>
              <a:rPr lang="en-US" sz="12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vs one $30M cargo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492240" y="491947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ask: </a:t>
            </a:r>
            <a:pPr algn="l" indent="0" marL="0">
              <a:buNone/>
            </a:pPr>
            <a:r>
              <a:rPr lang="en-US" sz="12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design-partner desk — not a cheque.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309360" y="54406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00" kern="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COMPUTED LIVE →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275320" y="5431536"/>
            <a:ext cx="3383280" cy="31027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7A7266">
                <a:alpha val="28000"/>
              </a:srgbClr>
            </a:outerShdw>
          </a:effectLst>
        </p:spPr>
      </p:sp>
      <p:pic>
        <p:nvPicPr>
          <p:cNvPr id="36" name="Image 0" descr="/private/tmp/claude-501/-Users-aman-Downloads-ET-Hackathon/ab60fbe1-6f03-48e5-aa7b-8b187ce1082a/scratchpad/deck-assets/cost_str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5431536"/>
            <a:ext cx="3383280" cy="310272"/>
          </a:xfrm>
          <a:prstGeom prst="rect">
            <a:avLst/>
          </a:prstGeom>
        </p:spPr>
      </p:pic>
      <p:sp>
        <p:nvSpPr>
          <p:cNvPr id="37" name="Text 34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Sources: PPAC / EIA / EY; Puri via PIB PRID 2239021. $-figures self-labeled SOLID/DIRECTIONAL; the 6-day lag is a reported estimate.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C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775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WATCH  →  DEBATE  →  PLAN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E3DFD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crisis room that convenes itself — and argues under your rules.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2171700" y="1554480"/>
            <a:ext cx="7818120" cy="4886325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7A7266">
                <a:alpha val="28000"/>
              </a:srgbClr>
            </a:outerShdw>
          </a:effectLst>
        </p:spPr>
      </p:sp>
      <p:pic>
        <p:nvPicPr>
          <p:cNvPr id="8" name="Image 0" descr="/private/tmp/claude-501/-Users-aman-Downloads-ET-Hackathon/ab60fbe1-6f03-48e5-aa7b-8b187ce1082a/scratchpad/deck-assets/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71700" y="1554480"/>
            <a:ext cx="7818120" cy="4886325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2171700" y="1554480"/>
            <a:ext cx="7818120" cy="4886325"/>
          </a:xfrm>
          <a:prstGeom prst="rect">
            <a:avLst/>
          </a:prstGeom>
          <a:ln w="19050">
            <a:solidFill>
              <a:srgbClr val="E3DFD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screen, one engine: signals → exposure-graph re-score → machine-generated option cards → charter debate → hash-chained audit. Live LLM at the edges; deterministic core runs offline.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C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775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CRITIC — ZERO LLM, CANNOT HALLUCINATE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E3DFD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It demoted Venezuela's Merey. It didn't have an opinion — it ran the rules.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02920" y="1572768"/>
            <a:ext cx="6126480" cy="116141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7A7266">
                <a:alpha val="28000"/>
              </a:srgbClr>
            </a:outerShdw>
          </a:effectLst>
        </p:spPr>
      </p:sp>
      <p:pic>
        <p:nvPicPr>
          <p:cNvPr id="8" name="Image 0" descr="/private/tmp/claude-501/-Users-aman-Downloads-ET-Hackathon/ab60fbe1-6f03-48e5-aa7b-8b187ce1082a/scratchpad/deck-assets/merey_obj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72768"/>
            <a:ext cx="6126480" cy="116141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02920" y="1572768"/>
            <a:ext cx="6126480" cy="1161418"/>
          </a:xfrm>
          <a:prstGeom prst="rect">
            <a:avLst/>
          </a:prstGeom>
          <a:ln w="12700">
            <a:solidFill>
              <a:srgbClr val="E3DFD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02920" y="2862202"/>
            <a:ext cx="6126480" cy="139370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7A7266">
                <a:alpha val="28000"/>
              </a:srgbClr>
            </a:outerShdw>
          </a:effectLst>
        </p:spPr>
      </p:sp>
      <p:pic>
        <p:nvPicPr>
          <p:cNvPr id="11" name="Image 1" descr="/private/tmp/claude-501/-Users-aman-Downloads-ET-Hackathon/ab60fbe1-6f03-48e5-aa7b-8b187ce1082a/scratchpad/deck-assets/merey_obj_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862202"/>
            <a:ext cx="6126480" cy="1393702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02920" y="2862202"/>
            <a:ext cx="6126480" cy="1393702"/>
          </a:xfrm>
          <a:prstGeom prst="rect">
            <a:avLst/>
          </a:prstGeom>
          <a:ln w="12700">
            <a:solidFill>
              <a:srgbClr val="E3DFD6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02920" y="4383920"/>
            <a:ext cx="6126480" cy="1408219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7A7266">
                <a:alpha val="28000"/>
              </a:srgbClr>
            </a:outerShdw>
          </a:effectLst>
        </p:spPr>
      </p:sp>
      <p:pic>
        <p:nvPicPr>
          <p:cNvPr id="14" name="Image 2" descr="/private/tmp/claude-501/-Users-aman-Downloads-ET-Hackathon/ab60fbe1-6f03-48e5-aa7b-8b187ce1082a/scratchpad/deck-assets/merey_obj_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383920"/>
            <a:ext cx="6126480" cy="1408219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502920" y="4383920"/>
            <a:ext cx="6126480" cy="1408219"/>
          </a:xfrm>
          <a:prstGeom prst="rect">
            <a:avLst/>
          </a:prstGeom>
          <a:ln w="12700">
            <a:solidFill>
              <a:srgbClr val="E3DFD6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6858000" y="16459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Three cited objections, computed by pure functions: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6858000" y="2148840"/>
            <a:ext cx="4800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2F62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A2  </a:t>
            </a:r>
            <a:pPr algn="l"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43-day voyage vs a 12.2-day cover buffer.</a:t>
            </a:r>
            <a:endParaRPr lang="en-US" sz="12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2F62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A4  </a:t>
            </a:r>
            <a:pPr algn="l"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OFAC payment rail AMBER (snapshot 2026-03-01).</a:t>
            </a:r>
            <a:endParaRPr lang="en-US" sz="12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2F62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A5  </a:t>
            </a:r>
            <a:pPr algn="l"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Too heavy to run neat — API 16 &lt; Jamnagar's min 18.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6858000" y="3977640"/>
            <a:ext cx="4800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B77514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7040880" y="411480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VERDICT  </a:t>
            </a:r>
            <a:pPr algn="l" indent="0" marL="0">
              <a:buNone/>
            </a:pPr>
            <a:r>
              <a:rPr lang="en-US" sz="13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CONDITIONAL</a:t>
            </a:r>
            <a:pPr algn="l" indent="0" marL="0">
              <a:buNone/>
            </a:pPr>
            <a:r>
              <a:rPr lang="en-US" sz="13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(3 flags, 0 blocks)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7040880" y="4407408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Each objection cites its Article + evidence. No model can add, soften, or remove one.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6858000" y="4983480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i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“It ran the sanctions list, the assay table, and the calendar. The language model just wrote the memo.”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Live capture from the app at 2026-03-15. Merey real assay: API 16 / S 2.45 / TAN 0.69 (E). The critic contains zero LLM — objections are computed facts.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C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775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REPLAYED REAL CRISES  ·  NOTHING FABRICATED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E3DFD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 replayed real crises — and every number shows how certain it is.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502920" y="15361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BACKTEST — real feeds, time-compressed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1847088"/>
            <a:ext cx="54864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1847088"/>
            <a:ext cx="64008" cy="914400"/>
          </a:xfrm>
          <a:prstGeom prst="rect">
            <a:avLst/>
          </a:prstGeom>
          <a:solidFill>
            <a:srgbClr val="1E8E56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" y="193852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Red Sea / Houthi 2023-24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394960" y="1956816"/>
            <a:ext cx="457200" cy="256032"/>
          </a:xfrm>
          <a:prstGeom prst="rect">
            <a:avLst/>
          </a:prstGeom>
          <a:solidFill>
            <a:srgbClr val="1E8E56"/>
          </a:solidFill>
          <a:ln/>
        </p:spPr>
      </p:sp>
      <p:sp>
        <p:nvSpPr>
          <p:cNvPr id="12" name="Text 10"/>
          <p:cNvSpPr/>
          <p:nvPr/>
        </p:nvSpPr>
        <p:spPr>
          <a:xfrm>
            <a:off x="5394960" y="195681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13232" y="224942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8.7 → 4.0 mb/d   ·   Brent +14%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3232" y="248716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lead time: +26 d early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" y="2871216"/>
            <a:ext cx="54864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2871216"/>
            <a:ext cx="64008" cy="914400"/>
          </a:xfrm>
          <a:prstGeom prst="rect">
            <a:avLst/>
          </a:prstGeom>
          <a:solidFill>
            <a:srgbClr val="1E8E56"/>
          </a:solidFill>
          <a:ln/>
        </p:spPr>
      </p:sp>
      <p:sp>
        <p:nvSpPr>
          <p:cNvPr id="17" name="Text 15"/>
          <p:cNvSpPr/>
          <p:nvPr/>
        </p:nvSpPr>
        <p:spPr>
          <a:xfrm>
            <a:off x="713232" y="2962656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Hormuz 2026 (live replay)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394960" y="2980944"/>
            <a:ext cx="457200" cy="256032"/>
          </a:xfrm>
          <a:prstGeom prst="rect">
            <a:avLst/>
          </a:prstGeom>
          <a:solidFill>
            <a:srgbClr val="1E8E56"/>
          </a:solidFill>
          <a:ln/>
        </p:spPr>
      </p:sp>
      <p:sp>
        <p:nvSpPr>
          <p:cNvPr id="19" name="Text 17"/>
          <p:cNvSpPr/>
          <p:nvPr/>
        </p:nvSpPr>
        <p:spPr>
          <a:xfrm>
            <a:off x="5394960" y="298094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13232" y="32735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~150 tankers anchored   ·   Brent &gt;50%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13232" y="3511296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lead time: +4 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02920" y="3941064"/>
            <a:ext cx="5486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i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“India's desks validated it: non-Hormuz sourcing rose 55% → 70%; suppliers widened 27 → 41 countries.”  We didn't ask an expert — we let the market grade it.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63640" y="153619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CARD CARRIES A PROVENANCE CHIP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63640" y="1847088"/>
            <a:ext cx="5394960" cy="3458555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7A7266">
                <a:alpha val="28000"/>
              </a:srgbClr>
            </a:outerShdw>
          </a:effectLst>
        </p:spPr>
      </p:sp>
      <p:pic>
        <p:nvPicPr>
          <p:cNvPr id="25" name="Image 0" descr="/private/tmp/claude-501/-Users-aman-Downloads-ET-Hackathon/ab60fbe1-6f03-48e5-aa7b-8b187ce1082a/scratchpad/deck-assets/plan_conditio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63640" y="1847088"/>
            <a:ext cx="5394960" cy="3458555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>
            <a:off x="6263640" y="1847088"/>
            <a:ext cx="5394960" cy="3458555"/>
          </a:xfrm>
          <a:prstGeom prst="rect">
            <a:avLst/>
          </a:prstGeom>
          <a:ln w="12700">
            <a:solidFill>
              <a:srgbClr val="E3DFD6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5360507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8E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LIVE </a:t>
            </a:r>
            <a:pPr algn="l" indent="0" marL="0">
              <a:buNone/>
            </a:pPr>
            <a:r>
              <a:rPr lang="en-US" sz="11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 real   </a:t>
            </a:r>
            <a:pPr algn="l" indent="0" marL="0">
              <a:buNone/>
            </a:pPr>
            <a:r>
              <a:rPr lang="en-US" sz="1100" b="1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CACHED </a:t>
            </a:r>
            <a:pPr algn="l" indent="0" marL="0">
              <a:buNone/>
            </a:pPr>
            <a:r>
              <a:rPr lang="en-US" sz="11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 estimated   </a:t>
            </a:r>
            <a:pPr algn="l" indent="0" marL="0">
              <a:buNone/>
            </a:pPr>
            <a:r>
              <a:rPr lang="en-US" sz="1100" b="1" dirty="0">
                <a:solidFill>
                  <a:srgbClr val="7A5CD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SYNTH </a:t>
            </a:r>
            <a:pPr algn="l" indent="0" marL="0">
              <a:buNone/>
            </a:pPr>
            <a:r>
              <a:rPr lang="en-US" sz="11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 synthetic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263640" y="5689691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LLM runs LIVE (NVIDIA, via a key-holding edge worker) and every completion is recorded for replay; airplane mode falls back to the build-time cache. Per-refinery inventories are modeled (S), and we say so.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honest claim isn't “everything is real” — it's “nothing is fabricated, and every number shows exactly how certain it is.”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C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775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 ONE RULE  →  THE PLAN RE-DECIDES ITSELF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E3DFD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Raise the security floor 10 → 15. Long-haul cargoes fail — each cites the rule.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502920" y="157276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FLOOR 10 — CONDITIONAL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1874520"/>
            <a:ext cx="5303520" cy="1005407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7A7266">
                <a:alpha val="28000"/>
              </a:srgbClr>
            </a:outerShdw>
          </a:effectLst>
        </p:spPr>
      </p:sp>
      <p:pic>
        <p:nvPicPr>
          <p:cNvPr id="9" name="Image 0" descr="/private/tmp/claude-501/-Users-aman-Downloads-ET-Hackathon/ab60fbe1-6f03-48e5-aa7b-8b187ce1082a/scratchpad/deck-assets/merey_obj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874520"/>
            <a:ext cx="5303520" cy="1005407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02920" y="1874520"/>
            <a:ext cx="5303520" cy="1005407"/>
          </a:xfrm>
          <a:prstGeom prst="rect">
            <a:avLst/>
          </a:prstGeom>
          <a:ln w="19050">
            <a:solidFill>
              <a:srgbClr val="B7751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897880" y="1965960"/>
            <a:ext cx="548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→</a:t>
            </a:r>
            <a:endParaRPr lang="en-US" sz="4000" dirty="0"/>
          </a:p>
        </p:txBody>
      </p:sp>
      <p:sp>
        <p:nvSpPr>
          <p:cNvPr id="12" name="Text 9"/>
          <p:cNvSpPr/>
          <p:nvPr/>
        </p:nvSpPr>
        <p:spPr>
          <a:xfrm>
            <a:off x="6355080" y="157276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C044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FLOOR 15 — REJECTED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355080" y="1874520"/>
            <a:ext cx="5303520" cy="1005407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7A7266">
                <a:alpha val="28000"/>
              </a:srgbClr>
            </a:outerShdw>
          </a:effectLst>
        </p:spPr>
      </p:sp>
      <p:pic>
        <p:nvPicPr>
          <p:cNvPr id="14" name="Image 1" descr="/private/tmp/claude-501/-Users-aman-Downloads-ET-Hackathon/ab60fbe1-6f03-48e5-aa7b-8b187ce1082a/scratchpad/deck-assets/merey_b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74520"/>
            <a:ext cx="5303520" cy="1005407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55080" y="1874520"/>
            <a:ext cx="5303520" cy="1005407"/>
          </a:xfrm>
          <a:prstGeom prst="rect">
            <a:avLst/>
          </a:prstGeom>
          <a:ln w="19050">
            <a:solidFill>
              <a:srgbClr val="C0442E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02920" y="2989655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Same fact — 43-day voyage vs 12.2-day cover. The flag escalates to a block; the arbiter rejects it. Six Jamnagar-bound cargoes fall the same way.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502920" y="3428567"/>
            <a:ext cx="3977640" cy="2549951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7A7266">
                <a:alpha val="28000"/>
              </a:srgbClr>
            </a:outerShdw>
          </a:effectLst>
        </p:spPr>
      </p:sp>
      <p:pic>
        <p:nvPicPr>
          <p:cNvPr id="18" name="Image 2" descr="/private/tmp/claude-501/-Users-aman-Downloads-ET-Hackathon/ab60fbe1-6f03-48e5-aa7b-8b187ce1082a/scratchpad/deck-assets/charter_aft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428567"/>
            <a:ext cx="3977640" cy="2549951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502920" y="3428567"/>
            <a:ext cx="3977640" cy="2549951"/>
          </a:xfrm>
          <a:prstGeom prst="rect">
            <a:avLst/>
          </a:prstGeom>
          <a:ln w="12700">
            <a:solidFill>
              <a:srgbClr val="E3DFD6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4754880" y="3483431"/>
            <a:ext cx="6903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AND IT'S ON THE RECORD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4754880" y="3867479"/>
            <a:ext cx="6903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verdict is hash-chained (seq · actor · input→output · prev) and re-runs byte-identically, offline. Revert to 10 and the earlier state's hashes reproduce exactly — no clock, no randomness on the derivation path. One click prints the trace on white: the signed prop.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4754880" y="5521318"/>
            <a:ext cx="6903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i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“Run it again — byte-identical. Try that with a prompt.”</a:t>
            </a:r>
            <a:endParaRPr lang="en-US" sz="1600" dirty="0"/>
          </a:p>
        </p:txBody>
      </p:sp>
      <p:sp>
        <p:nvSpPr>
          <p:cNvPr id="23" name="Text 18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 Date.now / Math.random on any derivation path — sim time only. The signed audit trace is the artifact a fine-tuned forecaster cannot produce.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C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775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DETERMINISTIC CORE  ·  LLM ONLY AT THE EDGES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E3DFD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Boring, inspectable, event-driven.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02920" y="1965960"/>
            <a:ext cx="1417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SIGNALS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0292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pure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920240" y="2400300"/>
            <a:ext cx="205740" cy="0"/>
          </a:xfrm>
          <a:prstGeom prst="line">
            <a:avLst/>
          </a:prstGeom>
          <a:noFill/>
          <a:ln w="19050">
            <a:solidFill>
              <a:srgbClr val="B77514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125980" y="1965960"/>
            <a:ext cx="1417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2598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RESCORE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212598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pure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543300" y="2400300"/>
            <a:ext cx="205740" cy="0"/>
          </a:xfrm>
          <a:prstGeom prst="line">
            <a:avLst/>
          </a:prstGeom>
          <a:noFill/>
          <a:ln w="19050">
            <a:solidFill>
              <a:srgbClr val="B77514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749040" y="1965960"/>
            <a:ext cx="1417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4904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OPTIONS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74904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pure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166360" y="2400300"/>
            <a:ext cx="205740" cy="0"/>
          </a:xfrm>
          <a:prstGeom prst="line">
            <a:avLst/>
          </a:prstGeom>
          <a:noFill/>
          <a:ln w="19050">
            <a:solidFill>
              <a:srgbClr val="B77514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372100" y="1965960"/>
            <a:ext cx="1417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7210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PROPOSER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37210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LIVE LLM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789420" y="2400300"/>
            <a:ext cx="205740" cy="0"/>
          </a:xfrm>
          <a:prstGeom prst="line">
            <a:avLst/>
          </a:prstGeom>
          <a:noFill/>
          <a:ln w="19050">
            <a:solidFill>
              <a:srgbClr val="B77514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995160" y="1965960"/>
            <a:ext cx="1417320" cy="868680"/>
          </a:xfrm>
          <a:prstGeom prst="rect">
            <a:avLst/>
          </a:prstGeom>
          <a:solidFill>
            <a:srgbClr val="FFFFFF"/>
          </a:solidFill>
          <a:ln w="25400">
            <a:solidFill>
              <a:srgbClr val="1E8E5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9516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8E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CRITIC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99516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ZERO LLM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412480" y="2400300"/>
            <a:ext cx="205740" cy="0"/>
          </a:xfrm>
          <a:prstGeom prst="line">
            <a:avLst/>
          </a:prstGeom>
          <a:noFill/>
          <a:ln w="19050">
            <a:solidFill>
              <a:srgbClr val="B77514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8618220" y="1965960"/>
            <a:ext cx="1417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61822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ARBITER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861822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pure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10035540" y="2400300"/>
            <a:ext cx="205740" cy="0"/>
          </a:xfrm>
          <a:prstGeom prst="line">
            <a:avLst/>
          </a:prstGeom>
          <a:noFill/>
          <a:ln w="19050">
            <a:solidFill>
              <a:srgbClr val="B77514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10241280" y="1965960"/>
            <a:ext cx="1417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24128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62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AUDIT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1024128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hash chain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02920" y="29992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solid = deterministic   ·   proposer prose is LIVE (NVIDIA via a key-holding edge worker), recorded for replay; cache is the airplane-mode fallback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02920" y="361188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RIGHT TOOL PER LAYER — chosen by what each layer is allowed to get wrong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02920" y="3977640"/>
            <a:ext cx="111556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2920" y="3977640"/>
            <a:ext cx="64008" cy="658368"/>
          </a:xfrm>
          <a:prstGeom prst="rect">
            <a:avLst/>
          </a:prstGeom>
          <a:solidFill>
            <a:srgbClr val="1E8E56"/>
          </a:solidFill>
          <a:ln/>
        </p:spPr>
      </p:sp>
      <p:sp>
        <p:nvSpPr>
          <p:cNvPr id="38" name="Text 36"/>
          <p:cNvSpPr/>
          <p:nvPr/>
        </p:nvSpPr>
        <p:spPr>
          <a:xfrm>
            <a:off x="731520" y="397764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8E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RULES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3200400" y="3977640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 the veto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5760720" y="3977640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must be citable &amp; cannot hallucinate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02920" y="4727448"/>
            <a:ext cx="111556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02920" y="4727448"/>
            <a:ext cx="64008" cy="658368"/>
          </a:xfrm>
          <a:prstGeom prst="rect">
            <a:avLst/>
          </a:prstGeom>
          <a:solidFill>
            <a:srgbClr val="9A6212"/>
          </a:solidFill>
          <a:ln/>
        </p:spPr>
      </p:sp>
      <p:sp>
        <p:nvSpPr>
          <p:cNvPr id="43" name="Text 41"/>
          <p:cNvSpPr/>
          <p:nvPr/>
        </p:nvSpPr>
        <p:spPr>
          <a:xfrm>
            <a:off x="731520" y="4727448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OUR MODEL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3200400" y="4727448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 the number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760720" y="4727448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softmax, frozen weights — byte-identical every run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502920" y="5477256"/>
            <a:ext cx="111556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02920" y="5477256"/>
            <a:ext cx="64008" cy="658368"/>
          </a:xfrm>
          <a:prstGeom prst="rect">
            <a:avLst/>
          </a:prstGeom>
          <a:solidFill>
            <a:srgbClr val="2F6296"/>
          </a:solidFill>
          <a:ln/>
        </p:spPr>
      </p:sp>
      <p:sp>
        <p:nvSpPr>
          <p:cNvPr id="48" name="Text 46"/>
          <p:cNvSpPr/>
          <p:nvPr/>
        </p:nvSpPr>
        <p:spPr>
          <a:xfrm>
            <a:off x="731520" y="5477256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F62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LLM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3200400" y="5477256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 the sentence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5760720" y="5477256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live at the edges, recorded for replay — only prose may vary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“One big LLM” would hallucinate the compliance check, vary the number every run, and be un-replayable — breaking the audit trail that is the moat.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C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775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FOR SENSE-MAKING  ·  RULES FOR SCORING  ·  HUMANS FOR APPROVAL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E3DFD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Now it reads messy operator text — and the gate throws out whatever it makes up.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02920" y="1572768"/>
            <a:ext cx="18288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572768"/>
            <a:ext cx="1828800" cy="73152"/>
          </a:xfrm>
          <a:prstGeom prst="rect">
            <a:avLst/>
          </a:prstGeom>
          <a:solidFill>
            <a:srgbClr val="2F6296"/>
          </a:solidFill>
          <a:ln/>
        </p:spPr>
      </p:sp>
      <p:sp>
        <p:nvSpPr>
          <p:cNvPr id="9" name="Text 7"/>
          <p:cNvSpPr/>
          <p:nvPr/>
        </p:nvSpPr>
        <p:spPr>
          <a:xfrm>
            <a:off x="576072" y="1755648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F62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① AI SENSE-MAKING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76072" y="2176272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reads free text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76072" y="2395728"/>
            <a:ext cx="1682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spc="100" kern="0" dirty="0">
                <a:solidFill>
                  <a:srgbClr val="2F62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advisory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331720" y="2084832"/>
            <a:ext cx="502920" cy="0"/>
          </a:xfrm>
          <a:prstGeom prst="line">
            <a:avLst/>
          </a:prstGeom>
          <a:noFill/>
          <a:ln w="19050">
            <a:solidFill>
              <a:srgbClr val="B7751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834640" y="1572768"/>
            <a:ext cx="1828800" cy="1024128"/>
          </a:xfrm>
          <a:prstGeom prst="rect">
            <a:avLst/>
          </a:prstGeom>
          <a:solidFill>
            <a:srgbClr val="FFFFFF"/>
          </a:solidFill>
          <a:ln w="25400">
            <a:solidFill>
              <a:srgbClr val="1E8E5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34640" y="1572768"/>
            <a:ext cx="1828800" cy="73152"/>
          </a:xfrm>
          <a:prstGeom prst="rect">
            <a:avLst/>
          </a:prstGeom>
          <a:solidFill>
            <a:srgbClr val="1E8E56"/>
          </a:solidFill>
          <a:ln/>
        </p:spPr>
      </p:sp>
      <p:sp>
        <p:nvSpPr>
          <p:cNvPr id="15" name="Text 13"/>
          <p:cNvSpPr/>
          <p:nvPr/>
        </p:nvSpPr>
        <p:spPr>
          <a:xfrm>
            <a:off x="2907792" y="1755648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8E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② VALIDATION GATE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907792" y="2176272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strict schema + rules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907792" y="2395728"/>
            <a:ext cx="1682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spc="100" kern="0" dirty="0">
                <a:solidFill>
                  <a:srgbClr val="1E8E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authoritative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663440" y="2084832"/>
            <a:ext cx="502920" cy="0"/>
          </a:xfrm>
          <a:prstGeom prst="line">
            <a:avLst/>
          </a:prstGeom>
          <a:noFill/>
          <a:ln w="19050">
            <a:solidFill>
              <a:srgbClr val="B77514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166360" y="1572768"/>
            <a:ext cx="1828800" cy="1024128"/>
          </a:xfrm>
          <a:prstGeom prst="rect">
            <a:avLst/>
          </a:prstGeom>
          <a:solidFill>
            <a:srgbClr val="FFFFFF"/>
          </a:solidFill>
          <a:ln w="25400">
            <a:solidFill>
              <a:srgbClr val="1E8E5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66360" y="1572768"/>
            <a:ext cx="1828800" cy="73152"/>
          </a:xfrm>
          <a:prstGeom prst="rect">
            <a:avLst/>
          </a:prstGeom>
          <a:solidFill>
            <a:srgbClr val="1E8E56"/>
          </a:solidFill>
          <a:ln/>
        </p:spPr>
      </p:sp>
      <p:sp>
        <p:nvSpPr>
          <p:cNvPr id="21" name="Text 19"/>
          <p:cNvSpPr/>
          <p:nvPr/>
        </p:nvSpPr>
        <p:spPr>
          <a:xfrm>
            <a:off x="5239512" y="1755648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8E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③ DETERMINISTIC SCORING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239512" y="2176272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rescore · critic · arbiter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239512" y="2395728"/>
            <a:ext cx="1682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spc="100" kern="0" dirty="0">
                <a:solidFill>
                  <a:srgbClr val="1E8E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authoritative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995160" y="2084832"/>
            <a:ext cx="502920" cy="0"/>
          </a:xfrm>
          <a:prstGeom prst="line">
            <a:avLst/>
          </a:prstGeom>
          <a:noFill/>
          <a:ln w="19050">
            <a:solidFill>
              <a:srgbClr val="B77514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498080" y="1572768"/>
            <a:ext cx="18288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98080" y="1572768"/>
            <a:ext cx="1828800" cy="73152"/>
          </a:xfrm>
          <a:prstGeom prst="rect">
            <a:avLst/>
          </a:prstGeom>
          <a:solidFill>
            <a:srgbClr val="2F6296"/>
          </a:solidFill>
          <a:ln/>
        </p:spPr>
      </p:sp>
      <p:sp>
        <p:nvSpPr>
          <p:cNvPr id="27" name="Text 25"/>
          <p:cNvSpPr/>
          <p:nvPr/>
        </p:nvSpPr>
        <p:spPr>
          <a:xfrm>
            <a:off x="7571232" y="1755648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F62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④ AI RULE AUDIT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571232" y="2176272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rule gaps · read-only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571232" y="2395728"/>
            <a:ext cx="1682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spc="100" kern="0" dirty="0">
                <a:solidFill>
                  <a:srgbClr val="2F62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advisory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9326880" y="2084832"/>
            <a:ext cx="502920" cy="0"/>
          </a:xfrm>
          <a:prstGeom prst="line">
            <a:avLst/>
          </a:prstGeom>
          <a:noFill/>
          <a:ln w="19050">
            <a:solidFill>
              <a:srgbClr val="B77514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829800" y="1572768"/>
            <a:ext cx="18288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829800" y="1572768"/>
            <a:ext cx="1828800" cy="73152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33" name="Text 31"/>
          <p:cNvSpPr/>
          <p:nvPr/>
        </p:nvSpPr>
        <p:spPr>
          <a:xfrm>
            <a:off x="9902952" y="1755648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⑤ HUMAN APPROVAL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9902952" y="2176272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logged sign-off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9902952" y="2395728"/>
            <a:ext cx="1682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spc="100" kern="0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human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02920" y="272491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 (blue) only proposes and observes.  The green rail — validation + scoring — is deterministic and authoritative.  A human signs.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02920" y="324612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50" kern="0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GATE, LIVE — a hallucinated Brent 9000 and a made-up grade, rejected before scoring: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909560" y="32461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50" kern="0" dirty="0">
                <a:solidFill>
                  <a:srgbClr val="1E8E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MODEL, LIVE ✦ — NVIDIA, on every update: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02920" y="3566160"/>
            <a:ext cx="7223760" cy="8894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7A7266">
                <a:alpha val="28000"/>
              </a:srgbClr>
            </a:outerShdw>
          </a:effectLst>
        </p:spPr>
      </p:sp>
      <p:pic>
        <p:nvPicPr>
          <p:cNvPr id="40" name="Image 0" descr="/private/tmp/claude-501/-Users-aman-Downloads-ET-Hackathon/ab60fbe1-6f03-48e5-aa7b-8b187ce1082a/scratchpad/deck-assets/ai_g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566160"/>
            <a:ext cx="7223760" cy="889412"/>
          </a:xfrm>
          <a:prstGeom prst="rect">
            <a:avLst/>
          </a:prstGeom>
        </p:spPr>
      </p:pic>
      <p:sp>
        <p:nvSpPr>
          <p:cNvPr id="41" name="Shape 38"/>
          <p:cNvSpPr/>
          <p:nvPr/>
        </p:nvSpPr>
        <p:spPr>
          <a:xfrm>
            <a:off x="502920" y="3566160"/>
            <a:ext cx="7223760" cy="889412"/>
          </a:xfrm>
          <a:prstGeom prst="rect">
            <a:avLst/>
          </a:prstGeom>
          <a:ln w="19050">
            <a:solidFill>
              <a:srgbClr val="1E8E56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7909560" y="3566160"/>
            <a:ext cx="3749040" cy="1051391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7A7266">
                <a:alpha val="28000"/>
              </a:srgbClr>
            </a:outerShdw>
          </a:effectLst>
        </p:spPr>
      </p:sp>
      <p:pic>
        <p:nvPicPr>
          <p:cNvPr id="43" name="Image 1" descr="/private/tmp/claude-501/-Users-aman-Downloads-ET-Hackathon/ab60fbe1-6f03-48e5-aa7b-8b187ce1082a/scratchpad/deck-assets/live_c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3566160"/>
            <a:ext cx="3749040" cy="1051391"/>
          </a:xfrm>
          <a:prstGeom prst="rect">
            <a:avLst/>
          </a:prstGeom>
        </p:spPr>
      </p:pic>
      <p:sp>
        <p:nvSpPr>
          <p:cNvPr id="44" name="Shape 40"/>
          <p:cNvSpPr/>
          <p:nvPr/>
        </p:nvSpPr>
        <p:spPr>
          <a:xfrm>
            <a:off x="7909560" y="3566160"/>
            <a:ext cx="3749040" cy="1051391"/>
          </a:xfrm>
          <a:prstGeom prst="rect">
            <a:avLst/>
          </a:prstGeom>
          <a:ln w="19050">
            <a:solidFill>
              <a:srgbClr val="1E8E56"/>
            </a:solidFill>
            <a:prstDash val="solid"/>
          </a:ln>
        </p:spPr>
      </p:sp>
      <p:sp>
        <p:nvSpPr>
          <p:cNvPr id="45" name="Text 41"/>
          <p:cNvSpPr/>
          <p:nvPr/>
        </p:nvSpPr>
        <p:spPr>
          <a:xfrm>
            <a:off x="7909560" y="4663271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live Llama-3.3-70B rationale, recorded for replay — captured from the app</a:t>
            </a:r>
            <a:endParaRPr lang="en-US" sz="900" dirty="0"/>
          </a:p>
        </p:txBody>
      </p:sp>
      <p:sp>
        <p:nvSpPr>
          <p:cNvPr id="46" name="Shape 42"/>
          <p:cNvSpPr/>
          <p:nvPr/>
        </p:nvSpPr>
        <p:spPr>
          <a:xfrm>
            <a:off x="502920" y="4965023"/>
            <a:ext cx="1115568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502920" y="4965023"/>
            <a:ext cx="64008" cy="1170432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48" name="Text 44"/>
          <p:cNvSpPr/>
          <p:nvPr/>
        </p:nvSpPr>
        <p:spPr>
          <a:xfrm>
            <a:off x="777240" y="5093039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live model makes the call. The record replays byte-identically. A human signs.</a:t>
            </a:r>
            <a:endParaRPr lang="en-US" sz="1500" dirty="0"/>
          </a:p>
        </p:txBody>
      </p:sp>
      <p:sp>
        <p:nvSpPr>
          <p:cNvPr id="49" name="Text 45"/>
          <p:cNvSpPr/>
          <p:nvPr/>
        </p:nvSpPr>
        <p:spPr>
          <a:xfrm>
            <a:off x="777240" y="5467943"/>
            <a:ext cx="10698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LLM runs LIVE on every decision-state change — NVIDIA Llama-3.3-70B through a key-holding Cloudflare Worker; the browser never sees a key. Every completion is RECORDED and replays byte-identically; the validation gate still drops anything fabricated before it can touch a score; scoring stays deterministic and offline-checkable.</a:t>
            </a:r>
            <a:endParaRPr lang="en-US" sz="1150" dirty="0"/>
          </a:p>
        </p:txBody>
      </p:sp>
      <p:sp>
        <p:nvSpPr>
          <p:cNvPr id="50" name="Text 46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 for sense-making and auditing · deterministic logic for scoring · humans for approval. Try it live: AI ASSIST ✦ → “⚠ Hallucination test.”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C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775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SCALE IS CONFIG, NOT CODE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E3DFD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strait this week. Every chokepoint, every commodity, next.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6949440" cy="4343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7A7266">
                <a:alpha val="28000"/>
              </a:srgbClr>
            </a:outerShdw>
          </a:effectLst>
        </p:spPr>
      </p:sp>
      <p:pic>
        <p:nvPicPr>
          <p:cNvPr id="8" name="Image 0" descr="/private/tmp/claude-501/-Users-aman-Downloads-ET-Hackathon/ab60fbe1-6f03-48e5-aa7b-8b187ce1082a/scratchpad/deck-assets/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54480"/>
            <a:ext cx="6949440" cy="43434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02920" y="1554480"/>
            <a:ext cx="6949440" cy="4343400"/>
          </a:xfrm>
          <a:prstGeom prst="rect">
            <a:avLst/>
          </a:prstGeom>
          <a:ln w="12700">
            <a:solidFill>
              <a:srgbClr val="E3DFD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680960" y="1572768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engine is graph-agnostic. A new theatre — a new chokepoint, a new commodity — is a new data bundle, not new code.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680960" y="274320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BUYER LADDER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680960" y="3063240"/>
            <a:ext cx="3977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818120" y="30632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412480" y="30632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Refiner trading desk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680960" y="3630168"/>
            <a:ext cx="3977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18120" y="363016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412480" y="363016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National oil company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7680960" y="4197096"/>
            <a:ext cx="3977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18120" y="419709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412480" y="4197096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Ministry crisis cell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7680960" y="4892040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Honest footer: live production feeds (Kpler / Spire) are adapter stubs today — marked “production license.”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Same pure engine, proven deterministic on an arbitrary graph in scripts/check.mjs. They show the disruption; we show the signed, auditable decision.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C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60020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Six days to four minutes.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40080" y="2450592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And the argument is on the record.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58368" y="333756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 AI that argues under rules you wrote. A machine — not a model — that enforces them. A decision you can audit.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955280" y="1737360"/>
            <a:ext cx="3657600" cy="2344783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7A7266">
                <a:alpha val="28000"/>
              </a:srgbClr>
            </a:outerShdw>
          </a:effectLst>
        </p:spPr>
      </p:sp>
      <p:pic>
        <p:nvPicPr>
          <p:cNvPr id="8" name="Image 0" descr="/private/tmp/claude-501/-Users-aman-Downloads-ET-Hackathon/ab60fbe1-6f03-48e5-aa7b-8b187ce1082a/scratchpad/deck-assets/charter_af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1737360"/>
            <a:ext cx="3657600" cy="2344783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955280" y="1737360"/>
            <a:ext cx="3657600" cy="2344783"/>
          </a:xfrm>
          <a:prstGeom prst="rect">
            <a:avLst/>
          </a:prstGeom>
          <a:ln w="12700">
            <a:solidFill>
              <a:srgbClr val="E3DFD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0" y="4155295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signed audit trace — hash-chained, VERIFIED, one-click printable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40080" y="4572000"/>
            <a:ext cx="70408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68680" y="457200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DEMO + REPO   </a:t>
            </a:r>
            <a:pPr algn="l" indent="0" marL="0">
              <a:buNone/>
            </a:pPr>
            <a:r>
              <a:rPr lang="en-US" sz="1500" b="1" dirty="0">
                <a:solidFill>
                  <a:srgbClr val="2F62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github.com/banthia14aman/ET-Hackathon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40080" y="58521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spc="300" kern="0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TRIN△ETRA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C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775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APPENDIX — THE HINDSIGHT-BIAS FIREWALL (Q&amp;A)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E3DFD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“Did you already know the answer?”  We built the firewall for that.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02920" y="1572768"/>
            <a:ext cx="1115568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572768"/>
            <a:ext cx="64008" cy="1060704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682496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FROZEN KB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566160" y="1682496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Structural knowledge cites only pre-2019 sources. The system doesn't “know about Angola” — it emerges from a query. Basrah Medium (a 2021 grade) was removed from the dataset entirely.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2724912"/>
            <a:ext cx="1115568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2724912"/>
            <a:ext cx="64008" cy="1060704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8346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STATED CALIBRATION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66160" y="2834640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calibration constant is a stated, sensitivity-swept assumption anchored to earlier crises (Abqaiq 2019, Suez 2021, Red Sea 2023-24) — never fit to the Hormuz-2026 outcomes the demo replays.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3877056"/>
            <a:ext cx="1115568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3877056"/>
            <a:ext cx="64008" cy="1060704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986784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 OUTCOME CLAIMS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566160" y="3986784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 don't predict outcomes (nobody predicts a 30-day US waiver — that's an explicit branch). The testable claim: the options India chose were in our top five, surfaced weeks earlier.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5029200"/>
            <a:ext cx="1115568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" y="5029200"/>
            <a:ext cx="64008" cy="1060704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5138928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MISSES SHOWN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566160" y="5138928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It didn't score perfectly — the misses are on the scorecard, in red. Replayed real feeds, time-compressed; no live-feed claims. Scenario-choreography events are labeled SYNTH, never upgraded.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May claim: replayed real feeds, frozen KB, stated+swept calibration, top-5 recall with misses shown. May never claim: live feeds, outcome prediction, or R for a synthetic number.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TRINETRA — governed crude-supply decisions</dc:title>
  <dc:subject>PptxGenJS Presentation</dc:subject>
  <dc:creator>TRINETRA</dc:creator>
  <cp:lastModifiedBy>TRINETRA</cp:lastModifiedBy>
  <cp:revision>1</cp:revision>
  <dcterms:created xsi:type="dcterms:W3CDTF">2026-07-19T20:45:07Z</dcterms:created>
  <dcterms:modified xsi:type="dcterms:W3CDTF">2026-07-19T20:45:07Z</dcterms:modified>
</cp:coreProperties>
</file>