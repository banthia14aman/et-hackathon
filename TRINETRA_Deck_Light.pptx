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61520" cy="6858000"/>
  <p:notesSz cx="6858000" cy="1216152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6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19556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spc="100" kern="0" dirty="0">
                <a:solidFill>
                  <a:srgbClr val="6C74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△ TRINETRA</a:t>
            </a:r>
            <a:endParaRPr lang="en-US" sz="900" dirty="0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61520" cy="109728"/>
          </a:xfrm>
          <a:prstGeom prst="rect">
            <a:avLst/>
          </a:prstGeom>
          <a:solidFill>
            <a:srgbClr val="B77514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005840"/>
            <a:ext cx="8229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600" b="1" spc="400" kern="0" dirty="0">
                <a:solidFill>
                  <a:srgbClr val="23282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TRIN</a:t>
            </a:r>
            <a:pPr algn="l" indent="0" marL="0">
              <a:buNone/>
            </a:pPr>
            <a:r>
              <a:rPr lang="en-US" sz="6600" b="1" spc="400" kern="0" dirty="0">
                <a:solidFill>
                  <a:srgbClr val="B77514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△</a:t>
            </a:r>
            <a:pPr algn="l" indent="0" marL="0">
              <a:buNone/>
            </a:pPr>
            <a:r>
              <a:rPr lang="en-US" sz="6600" b="1" spc="400" kern="0" dirty="0">
                <a:solidFill>
                  <a:srgbClr val="23282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ETRA</a:t>
            </a:r>
            <a:endParaRPr lang="en-US" sz="6600" dirty="0"/>
          </a:p>
        </p:txBody>
      </p:sp>
      <p:sp>
        <p:nvSpPr>
          <p:cNvPr id="5" name="Text 3"/>
          <p:cNvSpPr/>
          <p:nvPr/>
        </p:nvSpPr>
        <p:spPr>
          <a:xfrm>
            <a:off x="658368" y="2286000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9A621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An AI that argues — under rules you wrote.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658368" y="2999232"/>
            <a:ext cx="7680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6C748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AI for sense-making and constitutional auditing · deterministic logic for scoring · humans for final approval. A live model makes the call; the record replays byte-identically.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8732520" y="1005840"/>
            <a:ext cx="2926080" cy="3154680"/>
          </a:xfrm>
          <a:prstGeom prst="rect">
            <a:avLst/>
          </a:prstGeom>
          <a:solidFill>
            <a:srgbClr val="FFFFFF"/>
          </a:solidFill>
          <a:ln w="12700">
            <a:solidFill>
              <a:srgbClr val="E3DFD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732520" y="1234440"/>
            <a:ext cx="29260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0" b="1" dirty="0">
                <a:solidFill>
                  <a:srgbClr val="1E8E56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4:07</a:t>
            </a:r>
            <a:endParaRPr lang="en-US" sz="7800" dirty="0"/>
          </a:p>
        </p:txBody>
      </p:sp>
      <p:sp>
        <p:nvSpPr>
          <p:cNvPr id="9" name="Text 7"/>
          <p:cNvSpPr/>
          <p:nvPr/>
        </p:nvSpPr>
        <p:spPr>
          <a:xfrm>
            <a:off x="8732520" y="2450592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spc="200" kern="0" dirty="0">
                <a:solidFill>
                  <a:srgbClr val="6C748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TRINETRA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8732520" y="2761488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B77514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vs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8732520" y="3072384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strike="sngStrike" dirty="0">
                <a:solidFill>
                  <a:srgbClr val="6C748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6 DAYS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8732520" y="3767328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spc="100" kern="0" dirty="0">
                <a:solidFill>
                  <a:srgbClr val="6C748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INDIA · MARCH 2026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40080" y="4892040"/>
            <a:ext cx="356616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3DFD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40080" y="4892040"/>
            <a:ext cx="54864" cy="914400"/>
          </a:xfrm>
          <a:prstGeom prst="rect">
            <a:avLst/>
          </a:prstGeom>
          <a:solidFill>
            <a:srgbClr val="B77514"/>
          </a:solidFill>
          <a:ln/>
        </p:spPr>
      </p:sp>
      <p:sp>
        <p:nvSpPr>
          <p:cNvPr id="15" name="Text 13"/>
          <p:cNvSpPr/>
          <p:nvPr/>
        </p:nvSpPr>
        <p:spPr>
          <a:xfrm>
            <a:off x="822960" y="5047488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9A621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PROPOSE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822960" y="5440680"/>
            <a:ext cx="3246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6C748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an AI suggests moves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4389120" y="4892040"/>
            <a:ext cx="356616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3DFD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389120" y="4892040"/>
            <a:ext cx="54864" cy="914400"/>
          </a:xfrm>
          <a:prstGeom prst="rect">
            <a:avLst/>
          </a:prstGeom>
          <a:solidFill>
            <a:srgbClr val="B77514"/>
          </a:solidFill>
          <a:ln/>
        </p:spPr>
      </p:sp>
      <p:sp>
        <p:nvSpPr>
          <p:cNvPr id="19" name="Text 17"/>
          <p:cNvSpPr/>
          <p:nvPr/>
        </p:nvSpPr>
        <p:spPr>
          <a:xfrm>
            <a:off x="4572000" y="5047488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9A621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ENFORCE</a:t>
            </a:r>
            <a:endParaRPr lang="en-US" sz="1700" dirty="0"/>
          </a:p>
        </p:txBody>
      </p:sp>
      <p:sp>
        <p:nvSpPr>
          <p:cNvPr id="20" name="Text 18"/>
          <p:cNvSpPr/>
          <p:nvPr/>
        </p:nvSpPr>
        <p:spPr>
          <a:xfrm>
            <a:off x="4572000" y="5440680"/>
            <a:ext cx="3246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6C748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 machine—not a model—checks the rules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8138160" y="4892040"/>
            <a:ext cx="356616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3DF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8138160" y="4892040"/>
            <a:ext cx="54864" cy="914400"/>
          </a:xfrm>
          <a:prstGeom prst="rect">
            <a:avLst/>
          </a:prstGeom>
          <a:solidFill>
            <a:srgbClr val="B77514"/>
          </a:solidFill>
          <a:ln/>
        </p:spPr>
      </p:sp>
      <p:sp>
        <p:nvSpPr>
          <p:cNvPr id="23" name="Text 21"/>
          <p:cNvSpPr/>
          <p:nvPr/>
        </p:nvSpPr>
        <p:spPr>
          <a:xfrm>
            <a:off x="8321040" y="5047488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9A621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RECORD</a:t>
            </a:r>
            <a:endParaRPr lang="en-US" sz="1700" dirty="0"/>
          </a:p>
        </p:txBody>
      </p:sp>
      <p:sp>
        <p:nvSpPr>
          <p:cNvPr id="24" name="Text 22"/>
          <p:cNvSpPr/>
          <p:nvPr/>
        </p:nvSpPr>
        <p:spPr>
          <a:xfrm>
            <a:off x="8321040" y="5440680"/>
            <a:ext cx="3246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6C748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every step hash-chained, offline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502920" y="6492240"/>
            <a:ext cx="9509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i="1" dirty="0">
                <a:solidFill>
                  <a:srgbClr val="6C748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ET AI Hackathon 2026  ·  live NVIDIA LLM at the edges  ·  deterministic, byte-identical replay  ·  zero-LLM critic  ·  live on-screen decision clock</a:t>
            </a:r>
            <a:endParaRPr lang="en-US" sz="8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6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19556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spc="100" kern="0" dirty="0">
                <a:solidFill>
                  <a:srgbClr val="6C74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△ TRINETRA</a:t>
            </a:r>
            <a:endParaRPr lang="en-US" sz="900" dirty="0"/>
          </a:p>
        </p:txBody>
      </p:sp>
      <p:sp>
        <p:nvSpPr>
          <p:cNvPr id="3" name="Shape 1"/>
          <p:cNvSpPr/>
          <p:nvPr/>
        </p:nvSpPr>
        <p:spPr>
          <a:xfrm>
            <a:off x="521208" y="484632"/>
            <a:ext cx="146304" cy="256032"/>
          </a:xfrm>
          <a:prstGeom prst="rect">
            <a:avLst/>
          </a:prstGeom>
          <a:solidFill>
            <a:srgbClr val="B77514"/>
          </a:solidFill>
          <a:ln/>
        </p:spPr>
      </p:sp>
      <p:sp>
        <p:nvSpPr>
          <p:cNvPr id="4" name="Text 2"/>
          <p:cNvSpPr/>
          <p:nvPr/>
        </p:nvSpPr>
        <p:spPr>
          <a:xfrm>
            <a:off x="777240" y="457200"/>
            <a:ext cx="10881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B775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THE COST OF A DELIBERATION PROBLEM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02920" y="841248"/>
            <a:ext cx="11155680" cy="12802"/>
          </a:xfrm>
          <a:prstGeom prst="rect">
            <a:avLst/>
          </a:prstGeom>
          <a:solidFill>
            <a:srgbClr val="E3DFD6"/>
          </a:solidFill>
          <a:ln/>
        </p:spPr>
      </p:sp>
      <p:sp>
        <p:nvSpPr>
          <p:cNvPr id="6" name="Text 4"/>
          <p:cNvSpPr/>
          <p:nvPr/>
        </p:nvSpPr>
        <p:spPr>
          <a:xfrm>
            <a:off x="502920" y="914400"/>
            <a:ext cx="11155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23282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In March 2026, India needed six days to answer one question.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502920" y="1417320"/>
            <a:ext cx="11155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9A621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Not a data problem — a deliberation problem. The buffer isn't barrels; it's decision speed.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02920" y="2011680"/>
            <a:ext cx="5532120" cy="932688"/>
          </a:xfrm>
          <a:prstGeom prst="rect">
            <a:avLst/>
          </a:prstGeom>
          <a:solidFill>
            <a:srgbClr val="FFFFFF"/>
          </a:solidFill>
          <a:ln w="12700">
            <a:solidFill>
              <a:srgbClr val="E3DFD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02920" y="2011680"/>
            <a:ext cx="64008" cy="932688"/>
          </a:xfrm>
          <a:prstGeom prst="rect">
            <a:avLst/>
          </a:prstGeom>
          <a:solidFill>
            <a:srgbClr val="B77514"/>
          </a:solidFill>
          <a:ln/>
        </p:spPr>
      </p:sp>
      <p:sp>
        <p:nvSpPr>
          <p:cNvPr id="10" name="Text 8"/>
          <p:cNvSpPr/>
          <p:nvPr/>
        </p:nvSpPr>
        <p:spPr>
          <a:xfrm>
            <a:off x="731520" y="2084832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E8E56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$100M+</a:t>
            </a:r>
            <a:endParaRPr lang="en-US" sz="2900" dirty="0"/>
          </a:p>
        </p:txBody>
      </p:sp>
      <p:sp>
        <p:nvSpPr>
          <p:cNvPr id="11" name="Text 9"/>
          <p:cNvSpPr/>
          <p:nvPr/>
        </p:nvSpPr>
        <p:spPr>
          <a:xfrm>
            <a:off x="731520" y="2578608"/>
            <a:ext cx="5029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23282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₹850+ cr — cost of the six-day decision lag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3063240" y="2139696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i="1" dirty="0">
                <a:solidFill>
                  <a:srgbClr val="6C748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price path R · spot share E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502920" y="3035808"/>
            <a:ext cx="5532120" cy="932688"/>
          </a:xfrm>
          <a:prstGeom prst="rect">
            <a:avLst/>
          </a:prstGeom>
          <a:solidFill>
            <a:srgbClr val="FFFFFF"/>
          </a:solidFill>
          <a:ln w="12700">
            <a:solidFill>
              <a:srgbClr val="E3DFD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02920" y="3035808"/>
            <a:ext cx="64008" cy="932688"/>
          </a:xfrm>
          <a:prstGeom prst="rect">
            <a:avLst/>
          </a:prstGeom>
          <a:solidFill>
            <a:srgbClr val="B77514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" y="3108960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E8E56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$270M</a:t>
            </a:r>
            <a:endParaRPr lang="en-US" sz="2900" dirty="0"/>
          </a:p>
        </p:txBody>
      </p:sp>
      <p:sp>
        <p:nvSpPr>
          <p:cNvPr id="16" name="Text 14"/>
          <p:cNvSpPr/>
          <p:nvPr/>
        </p:nvSpPr>
        <p:spPr>
          <a:xfrm>
            <a:off x="731520" y="3602736"/>
            <a:ext cx="5029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23282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one SPR day burned at the peak, refilled later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3063240" y="3163824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i="1" dirty="0">
                <a:solidFill>
                  <a:srgbClr val="6C748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arithmetic R · attribution E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502920" y="4059936"/>
            <a:ext cx="5532120" cy="932688"/>
          </a:xfrm>
          <a:prstGeom prst="rect">
            <a:avLst/>
          </a:prstGeom>
          <a:solidFill>
            <a:srgbClr val="FFFFFF"/>
          </a:solidFill>
          <a:ln w="12700">
            <a:solidFill>
              <a:srgbClr val="E3DF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02920" y="4059936"/>
            <a:ext cx="64008" cy="932688"/>
          </a:xfrm>
          <a:prstGeom prst="rect">
            <a:avLst/>
          </a:prstGeom>
          <a:solidFill>
            <a:srgbClr val="B77514"/>
          </a:solidFill>
          <a:ln/>
        </p:spPr>
      </p:sp>
      <p:sp>
        <p:nvSpPr>
          <p:cNvPr id="20" name="Text 18"/>
          <p:cNvSpPr/>
          <p:nvPr/>
        </p:nvSpPr>
        <p:spPr>
          <a:xfrm>
            <a:off x="731520" y="4133088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E8E56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$30–45M</a:t>
            </a:r>
            <a:endParaRPr lang="en-US" sz="2900" dirty="0"/>
          </a:p>
        </p:txBody>
      </p:sp>
      <p:sp>
        <p:nvSpPr>
          <p:cNvPr id="21" name="Text 19"/>
          <p:cNvSpPr/>
          <p:nvPr/>
        </p:nvSpPr>
        <p:spPr>
          <a:xfrm>
            <a:off x="731520" y="4626864"/>
            <a:ext cx="5029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23282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one VLCC bought in panic instead of on time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3063240" y="4187952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i="1" dirty="0">
                <a:solidFill>
                  <a:srgbClr val="6C748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R — from the tape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502920" y="5102352"/>
            <a:ext cx="5532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i="1" dirty="0">
                <a:solidFill>
                  <a:srgbClr val="6C748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Base inputs (R): imports ~4.9 mb/d (PPAC); Brent $71→$77→$100+→$126 (EIA). The app computes this live and stamps it “order-of-magnitude.”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6309360" y="2011680"/>
            <a:ext cx="5349240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E3DFD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309360" y="2011680"/>
            <a:ext cx="64008" cy="1417320"/>
          </a:xfrm>
          <a:prstGeom prst="rect">
            <a:avLst/>
          </a:prstGeom>
          <a:solidFill>
            <a:srgbClr val="B77514"/>
          </a:solidFill>
          <a:ln/>
        </p:spPr>
      </p:sp>
      <p:sp>
        <p:nvSpPr>
          <p:cNvPr id="26" name="Text 24"/>
          <p:cNvSpPr/>
          <p:nvPr/>
        </p:nvSpPr>
        <p:spPr>
          <a:xfrm>
            <a:off x="6537960" y="2157984"/>
            <a:ext cx="4892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i="1" dirty="0">
                <a:solidFill>
                  <a:srgbClr val="23282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“My comfort point used to be 60-60-60 — 60 days of crude, gas and LPG.”</a:t>
            </a:r>
            <a:endParaRPr lang="en-US" sz="13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6C748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— Hardeep Singh Puri, Union Minister for Petroleum &amp; Natural Gas, 2026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11018520" y="3108960"/>
            <a:ext cx="457200" cy="256032"/>
          </a:xfrm>
          <a:prstGeom prst="rect">
            <a:avLst/>
          </a:prstGeom>
          <a:solidFill>
            <a:srgbClr val="1E8E56"/>
          </a:solidFill>
          <a:ln/>
        </p:spPr>
      </p:sp>
      <p:sp>
        <p:nvSpPr>
          <p:cNvPr id="28" name="Text 26"/>
          <p:cNvSpPr/>
          <p:nvPr/>
        </p:nvSpPr>
        <p:spPr>
          <a:xfrm>
            <a:off x="11018520" y="3108960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6309360" y="3584448"/>
            <a:ext cx="5349240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3DFD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B77514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WHAT IT COSTS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6492240" y="4005072"/>
            <a:ext cx="5029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9A621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$150K</a:t>
            </a:r>
            <a:pPr algn="l" indent="0" marL="0">
              <a:buNone/>
            </a:pPr>
            <a:r>
              <a:rPr lang="en-US" sz="1400" dirty="0">
                <a:solidFill>
                  <a:srgbClr val="23282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  / desk / year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6492240" y="4572000"/>
            <a:ext cx="5029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6C748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Breakeven </a:t>
            </a:r>
            <a:pPr algn="l" indent="0" marL="0">
              <a:buNone/>
            </a:pPr>
            <a:r>
              <a:rPr lang="en-US" sz="1200" b="1" dirty="0">
                <a:solidFill>
                  <a:srgbClr val="23282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$0.0003/bbl</a:t>
            </a:r>
            <a:pPr algn="l" indent="0" marL="0">
              <a:buNone/>
            </a:pPr>
            <a:r>
              <a:rPr lang="en-US" sz="1200" dirty="0">
                <a:solidFill>
                  <a:srgbClr val="6C748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   ·   ROI </a:t>
            </a:r>
            <a:pPr algn="l" indent="0" marL="0">
              <a:buNone/>
            </a:pPr>
            <a:r>
              <a:rPr lang="en-US" sz="1200" b="1" dirty="0">
                <a:solidFill>
                  <a:srgbClr val="23282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~200×</a:t>
            </a:r>
            <a:pPr algn="l" indent="0" marL="0">
              <a:buNone/>
            </a:pPr>
            <a:r>
              <a:rPr lang="en-US" sz="1200" dirty="0">
                <a:solidFill>
                  <a:srgbClr val="6C748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 vs one $30M cargo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6492240" y="4919472"/>
            <a:ext cx="5029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6C748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The ask: </a:t>
            </a:r>
            <a:pPr algn="l" indent="0" marL="0">
              <a:buNone/>
            </a:pPr>
            <a:r>
              <a:rPr lang="en-US" sz="1200" b="1" dirty="0">
                <a:solidFill>
                  <a:srgbClr val="9A621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one design-partner desk — not a cheque.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6492240" y="5175504"/>
            <a:ext cx="5029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i="1" dirty="0">
                <a:solidFill>
                  <a:srgbClr val="6C748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Targets: IOC Intl Trade Directorate · RIL Jamnagar crude desk · BPCL risk cell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6309360" y="544068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100" kern="0" dirty="0">
                <a:solidFill>
                  <a:srgbClr val="6C748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COMPUTED LIVE →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8275320" y="5431536"/>
            <a:ext cx="3383280" cy="310272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8100000">
              <a:srgbClr val="7A7266">
                <a:alpha val="28000"/>
              </a:srgbClr>
            </a:outerShdw>
          </a:effectLst>
        </p:spPr>
      </p:sp>
      <p:pic>
        <p:nvPicPr>
          <p:cNvPr id="37" name="Image 0" descr="/private/tmp/claude-501/-Users-aman-Downloads-ET-Hackathon/ab60fbe1-6f03-48e5-aa7b-8b187ce1082a/scratchpad/deck-assets/cost_stri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75320" y="5431536"/>
            <a:ext cx="3383280" cy="310272"/>
          </a:xfrm>
          <a:prstGeom prst="rect">
            <a:avLst/>
          </a:prstGeom>
        </p:spPr>
      </p:pic>
      <p:sp>
        <p:nvSpPr>
          <p:cNvPr id="38" name="Text 35"/>
          <p:cNvSpPr/>
          <p:nvPr/>
        </p:nvSpPr>
        <p:spPr>
          <a:xfrm>
            <a:off x="502920" y="6492240"/>
            <a:ext cx="9509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i="1" dirty="0">
                <a:solidFill>
                  <a:srgbClr val="6C748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Sources: PPAC / EIA / EY; Puri via PIB PRID 2239021. $-figures self-labeled SOLID/DIRECTIONAL; the 6-day lag is a reported estimate.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6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19556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spc="100" kern="0" dirty="0">
                <a:solidFill>
                  <a:srgbClr val="6C74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△ TRINETRA</a:t>
            </a:r>
            <a:endParaRPr lang="en-US" sz="900" dirty="0"/>
          </a:p>
        </p:txBody>
      </p:sp>
      <p:sp>
        <p:nvSpPr>
          <p:cNvPr id="3" name="Shape 1"/>
          <p:cNvSpPr/>
          <p:nvPr/>
        </p:nvSpPr>
        <p:spPr>
          <a:xfrm>
            <a:off x="521208" y="484632"/>
            <a:ext cx="146304" cy="256032"/>
          </a:xfrm>
          <a:prstGeom prst="rect">
            <a:avLst/>
          </a:prstGeom>
          <a:solidFill>
            <a:srgbClr val="B77514"/>
          </a:solidFill>
          <a:ln/>
        </p:spPr>
      </p:sp>
      <p:sp>
        <p:nvSpPr>
          <p:cNvPr id="4" name="Text 2"/>
          <p:cNvSpPr/>
          <p:nvPr/>
        </p:nvSpPr>
        <p:spPr>
          <a:xfrm>
            <a:off x="777240" y="457200"/>
            <a:ext cx="10881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B775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WATCH  →  DEBATE  →  PLAN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02920" y="841248"/>
            <a:ext cx="11155680" cy="12802"/>
          </a:xfrm>
          <a:prstGeom prst="rect">
            <a:avLst/>
          </a:prstGeom>
          <a:solidFill>
            <a:srgbClr val="E3DFD6"/>
          </a:solidFill>
          <a:ln/>
        </p:spPr>
      </p:sp>
      <p:sp>
        <p:nvSpPr>
          <p:cNvPr id="6" name="Text 4"/>
          <p:cNvSpPr/>
          <p:nvPr/>
        </p:nvSpPr>
        <p:spPr>
          <a:xfrm>
            <a:off x="502920" y="914400"/>
            <a:ext cx="11155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23282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 crisis room that convenes itself — and argues under your rules.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2171700" y="1554480"/>
            <a:ext cx="7818120" cy="4886325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8100000">
              <a:srgbClr val="7A7266">
                <a:alpha val="28000"/>
              </a:srgbClr>
            </a:outerShdw>
          </a:effectLst>
        </p:spPr>
      </p:sp>
      <p:pic>
        <p:nvPicPr>
          <p:cNvPr id="8" name="Image 0" descr="/private/tmp/claude-501/-Users-aman-Downloads-ET-Hackathon/ab60fbe1-6f03-48e5-aa7b-8b187ce1082a/scratchpad/deck-assets/her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71700" y="1554480"/>
            <a:ext cx="7818120" cy="4886325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2171700" y="1554480"/>
            <a:ext cx="7818120" cy="4886325"/>
          </a:xfrm>
          <a:prstGeom prst="rect">
            <a:avLst/>
          </a:prstGeom>
          <a:ln w="19050">
            <a:solidFill>
              <a:srgbClr val="E3DFD6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02920" y="6492240"/>
            <a:ext cx="9509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i="1" dirty="0">
                <a:solidFill>
                  <a:srgbClr val="6C748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One screen, one engine: signals → exposure-graph re-score → machine-generated option cards → charter debate → hash-chained audit. Live LLM at the edges; deterministic core runs offline.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6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19556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spc="100" kern="0" dirty="0">
                <a:solidFill>
                  <a:srgbClr val="6C74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△ TRINETRA</a:t>
            </a:r>
            <a:endParaRPr lang="en-US" sz="900" dirty="0"/>
          </a:p>
        </p:txBody>
      </p:sp>
      <p:sp>
        <p:nvSpPr>
          <p:cNvPr id="3" name="Shape 1"/>
          <p:cNvSpPr/>
          <p:nvPr/>
        </p:nvSpPr>
        <p:spPr>
          <a:xfrm>
            <a:off x="521208" y="484632"/>
            <a:ext cx="146304" cy="256032"/>
          </a:xfrm>
          <a:prstGeom prst="rect">
            <a:avLst/>
          </a:prstGeom>
          <a:solidFill>
            <a:srgbClr val="B77514"/>
          </a:solidFill>
          <a:ln/>
        </p:spPr>
      </p:sp>
      <p:sp>
        <p:nvSpPr>
          <p:cNvPr id="4" name="Text 2"/>
          <p:cNvSpPr/>
          <p:nvPr/>
        </p:nvSpPr>
        <p:spPr>
          <a:xfrm>
            <a:off x="777240" y="457200"/>
            <a:ext cx="10881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B775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THE CRITIC — ZERO LLM, CANNOT HALLUCINATE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02920" y="841248"/>
            <a:ext cx="11155680" cy="12802"/>
          </a:xfrm>
          <a:prstGeom prst="rect">
            <a:avLst/>
          </a:prstGeom>
          <a:solidFill>
            <a:srgbClr val="E3DFD6"/>
          </a:solidFill>
          <a:ln/>
        </p:spPr>
      </p:sp>
      <p:sp>
        <p:nvSpPr>
          <p:cNvPr id="6" name="Text 4"/>
          <p:cNvSpPr/>
          <p:nvPr/>
        </p:nvSpPr>
        <p:spPr>
          <a:xfrm>
            <a:off x="502920" y="914400"/>
            <a:ext cx="11155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23282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It demoted Venezuela's Merey. It didn't have an opinion — it ran the rules.</a:t>
            </a:r>
            <a:endParaRPr lang="en-US" sz="2100" dirty="0"/>
          </a:p>
        </p:txBody>
      </p:sp>
      <p:sp>
        <p:nvSpPr>
          <p:cNvPr id="7" name="Shape 5"/>
          <p:cNvSpPr/>
          <p:nvPr/>
        </p:nvSpPr>
        <p:spPr>
          <a:xfrm>
            <a:off x="502920" y="1572768"/>
            <a:ext cx="6126480" cy="116141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8100000">
              <a:srgbClr val="7A7266">
                <a:alpha val="28000"/>
              </a:srgbClr>
            </a:outerShdw>
          </a:effectLst>
        </p:spPr>
      </p:sp>
      <p:pic>
        <p:nvPicPr>
          <p:cNvPr id="8" name="Image 0" descr="/private/tmp/claude-501/-Users-aman-Downloads-ET-Hackathon/ab60fbe1-6f03-48e5-aa7b-8b187ce1082a/scratchpad/deck-assets/merey_obj_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572768"/>
            <a:ext cx="6126480" cy="1161418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502920" y="1572768"/>
            <a:ext cx="6126480" cy="1161418"/>
          </a:xfrm>
          <a:prstGeom prst="rect">
            <a:avLst/>
          </a:prstGeom>
          <a:ln w="12700">
            <a:solidFill>
              <a:srgbClr val="E3DFD6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502920" y="2862202"/>
            <a:ext cx="6126480" cy="1393702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8100000">
              <a:srgbClr val="7A7266">
                <a:alpha val="28000"/>
              </a:srgbClr>
            </a:outerShdw>
          </a:effectLst>
        </p:spPr>
      </p:sp>
      <p:pic>
        <p:nvPicPr>
          <p:cNvPr id="11" name="Image 1" descr="/private/tmp/claude-501/-Users-aman-Downloads-ET-Hackathon/ab60fbe1-6f03-48e5-aa7b-8b187ce1082a/scratchpad/deck-assets/merey_obj_2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862202"/>
            <a:ext cx="6126480" cy="1393702"/>
          </a:xfrm>
          <a:prstGeom prst="rect">
            <a:avLst/>
          </a:prstGeom>
        </p:spPr>
      </p:pic>
      <p:sp>
        <p:nvSpPr>
          <p:cNvPr id="12" name="Shape 8"/>
          <p:cNvSpPr/>
          <p:nvPr/>
        </p:nvSpPr>
        <p:spPr>
          <a:xfrm>
            <a:off x="502920" y="2862202"/>
            <a:ext cx="6126480" cy="1393702"/>
          </a:xfrm>
          <a:prstGeom prst="rect">
            <a:avLst/>
          </a:prstGeom>
          <a:ln w="12700">
            <a:solidFill>
              <a:srgbClr val="E3DFD6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502920" y="4383920"/>
            <a:ext cx="6126480" cy="1408219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8100000">
              <a:srgbClr val="7A7266">
                <a:alpha val="28000"/>
              </a:srgbClr>
            </a:outerShdw>
          </a:effectLst>
        </p:spPr>
      </p:sp>
      <p:pic>
        <p:nvPicPr>
          <p:cNvPr id="14" name="Image 2" descr="/private/tmp/claude-501/-Users-aman-Downloads-ET-Hackathon/ab60fbe1-6f03-48e5-aa7b-8b187ce1082a/scratchpad/deck-assets/merey_obj_3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4383920"/>
            <a:ext cx="6126480" cy="1408219"/>
          </a:xfrm>
          <a:prstGeom prst="rect">
            <a:avLst/>
          </a:prstGeom>
        </p:spPr>
      </p:pic>
      <p:sp>
        <p:nvSpPr>
          <p:cNvPr id="15" name="Shape 10"/>
          <p:cNvSpPr/>
          <p:nvPr/>
        </p:nvSpPr>
        <p:spPr>
          <a:xfrm>
            <a:off x="502920" y="4383920"/>
            <a:ext cx="6126480" cy="1408219"/>
          </a:xfrm>
          <a:prstGeom prst="rect">
            <a:avLst/>
          </a:prstGeom>
          <a:ln w="12700">
            <a:solidFill>
              <a:srgbClr val="E3DFD6"/>
            </a:solidFill>
            <a:prstDash val="solid"/>
          </a:ln>
        </p:spPr>
      </p:sp>
      <p:sp>
        <p:nvSpPr>
          <p:cNvPr id="16" name="Text 11"/>
          <p:cNvSpPr/>
          <p:nvPr/>
        </p:nvSpPr>
        <p:spPr>
          <a:xfrm>
            <a:off x="6858000" y="1645920"/>
            <a:ext cx="4800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A621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Three cited objections, computed by pure functions:</a:t>
            </a:r>
            <a:endParaRPr lang="en-US" sz="1300" dirty="0"/>
          </a:p>
        </p:txBody>
      </p:sp>
      <p:sp>
        <p:nvSpPr>
          <p:cNvPr id="17" name="Text 12"/>
          <p:cNvSpPr/>
          <p:nvPr/>
        </p:nvSpPr>
        <p:spPr>
          <a:xfrm>
            <a:off x="6858000" y="2148840"/>
            <a:ext cx="48006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250" b="1" dirty="0">
                <a:solidFill>
                  <a:srgbClr val="2F6296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A2  </a:t>
            </a:r>
            <a:pPr algn="l" indent="0" marL="0">
              <a:lnSpc>
                <a:spcPct val="140000"/>
              </a:lnSpc>
              <a:buNone/>
            </a:pPr>
            <a:r>
              <a:rPr lang="en-US" sz="1250" dirty="0">
                <a:solidFill>
                  <a:srgbClr val="23282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43-day voyage vs a 12.2-day cover buffer.</a:t>
            </a:r>
            <a:endParaRPr lang="en-US" sz="125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1250" b="1" dirty="0">
                <a:solidFill>
                  <a:srgbClr val="2F6296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A4  </a:t>
            </a:r>
            <a:pPr algn="l" indent="0" marL="0">
              <a:lnSpc>
                <a:spcPct val="140000"/>
              </a:lnSpc>
              <a:buNone/>
            </a:pPr>
            <a:r>
              <a:rPr lang="en-US" sz="1250" dirty="0">
                <a:solidFill>
                  <a:srgbClr val="23282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OFAC payment rail AMBER (snapshot 2026-03-01).</a:t>
            </a:r>
            <a:endParaRPr lang="en-US" sz="125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1250" b="1" dirty="0">
                <a:solidFill>
                  <a:srgbClr val="2F6296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A5  </a:t>
            </a:r>
            <a:pPr algn="l" indent="0" marL="0">
              <a:lnSpc>
                <a:spcPct val="140000"/>
              </a:lnSpc>
              <a:buNone/>
            </a:pPr>
            <a:r>
              <a:rPr lang="en-US" sz="1250" dirty="0">
                <a:solidFill>
                  <a:srgbClr val="23282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Too heavy to run neat — API 16 &lt; Jamnagar's min 18.</a:t>
            </a:r>
            <a:endParaRPr lang="en-US" sz="1250" dirty="0"/>
          </a:p>
        </p:txBody>
      </p:sp>
      <p:sp>
        <p:nvSpPr>
          <p:cNvPr id="18" name="Shape 13"/>
          <p:cNvSpPr/>
          <p:nvPr/>
        </p:nvSpPr>
        <p:spPr>
          <a:xfrm>
            <a:off x="6858000" y="3977640"/>
            <a:ext cx="480060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B77514"/>
            </a:solidFill>
            <a:prstDash val="solid"/>
          </a:ln>
        </p:spPr>
      </p:sp>
      <p:sp>
        <p:nvSpPr>
          <p:cNvPr id="19" name="Text 14"/>
          <p:cNvSpPr/>
          <p:nvPr/>
        </p:nvSpPr>
        <p:spPr>
          <a:xfrm>
            <a:off x="7040880" y="4114800"/>
            <a:ext cx="4434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6C748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VERDICT  </a:t>
            </a:r>
            <a:pPr algn="l" indent="0" marL="0">
              <a:buNone/>
            </a:pPr>
            <a:r>
              <a:rPr lang="en-US" sz="1300" b="1" dirty="0">
                <a:solidFill>
                  <a:srgbClr val="9A621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CONDITIONAL</a:t>
            </a:r>
            <a:pPr algn="l" indent="0" marL="0">
              <a:buNone/>
            </a:pPr>
            <a:r>
              <a:rPr lang="en-US" sz="1300" dirty="0">
                <a:solidFill>
                  <a:srgbClr val="6C748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  (3 flags, 0 blocks)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7040880" y="4407408"/>
            <a:ext cx="4434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i="1" dirty="0">
                <a:solidFill>
                  <a:srgbClr val="6C748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Each objection cites its Article + evidence. No model can add, soften, or remove one.</a:t>
            </a:r>
            <a:endParaRPr lang="en-US" sz="1050" dirty="0"/>
          </a:p>
        </p:txBody>
      </p:sp>
      <p:sp>
        <p:nvSpPr>
          <p:cNvPr id="21" name="Text 16"/>
          <p:cNvSpPr/>
          <p:nvPr/>
        </p:nvSpPr>
        <p:spPr>
          <a:xfrm>
            <a:off x="6858000" y="4983480"/>
            <a:ext cx="4800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300" i="1" dirty="0">
                <a:solidFill>
                  <a:srgbClr val="9A621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“It ran the sanctions list, the assay table, and the calendar. The language model just wrote the memo.”</a:t>
            </a:r>
            <a:endParaRPr lang="en-US" sz="1300" dirty="0"/>
          </a:p>
        </p:txBody>
      </p:sp>
      <p:sp>
        <p:nvSpPr>
          <p:cNvPr id="22" name="Text 17"/>
          <p:cNvSpPr/>
          <p:nvPr/>
        </p:nvSpPr>
        <p:spPr>
          <a:xfrm>
            <a:off x="502920" y="6492240"/>
            <a:ext cx="9509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i="1" dirty="0">
                <a:solidFill>
                  <a:srgbClr val="6C748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Live capture from the app at 2026-03-15. Merey real assay: API 16 / S 2.45 / TAN 0.69 (E). The critic contains zero LLM — objections are computed facts.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6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19556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spc="100" kern="0" dirty="0">
                <a:solidFill>
                  <a:srgbClr val="6C74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△ TRINETRA</a:t>
            </a:r>
            <a:endParaRPr lang="en-US" sz="900" dirty="0"/>
          </a:p>
        </p:txBody>
      </p:sp>
      <p:sp>
        <p:nvSpPr>
          <p:cNvPr id="3" name="Shape 1"/>
          <p:cNvSpPr/>
          <p:nvPr/>
        </p:nvSpPr>
        <p:spPr>
          <a:xfrm>
            <a:off x="521208" y="484632"/>
            <a:ext cx="146304" cy="256032"/>
          </a:xfrm>
          <a:prstGeom prst="rect">
            <a:avLst/>
          </a:prstGeom>
          <a:solidFill>
            <a:srgbClr val="B77514"/>
          </a:solidFill>
          <a:ln/>
        </p:spPr>
      </p:sp>
      <p:sp>
        <p:nvSpPr>
          <p:cNvPr id="4" name="Text 2"/>
          <p:cNvSpPr/>
          <p:nvPr/>
        </p:nvSpPr>
        <p:spPr>
          <a:xfrm>
            <a:off x="777240" y="457200"/>
            <a:ext cx="10881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B775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REPLAYED REAL CRISES  ·  NOTHING FABRICATED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02920" y="841248"/>
            <a:ext cx="11155680" cy="12802"/>
          </a:xfrm>
          <a:prstGeom prst="rect">
            <a:avLst/>
          </a:prstGeom>
          <a:solidFill>
            <a:srgbClr val="E3DFD6"/>
          </a:solidFill>
          <a:ln/>
        </p:spPr>
      </p:sp>
      <p:sp>
        <p:nvSpPr>
          <p:cNvPr id="6" name="Text 4"/>
          <p:cNvSpPr/>
          <p:nvPr/>
        </p:nvSpPr>
        <p:spPr>
          <a:xfrm>
            <a:off x="502920" y="914400"/>
            <a:ext cx="11155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23282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We replayed real crises — and every number shows how certain it is.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502920" y="153619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spc="100" kern="0" dirty="0">
                <a:solidFill>
                  <a:srgbClr val="B77514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BACKTEST — real feeds, time-compressed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502920" y="1847088"/>
            <a:ext cx="548640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3DFD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02920" y="1847088"/>
            <a:ext cx="64008" cy="914400"/>
          </a:xfrm>
          <a:prstGeom prst="rect">
            <a:avLst/>
          </a:prstGeom>
          <a:solidFill>
            <a:srgbClr val="1E8E56"/>
          </a:solidFill>
          <a:ln/>
        </p:spPr>
      </p:sp>
      <p:sp>
        <p:nvSpPr>
          <p:cNvPr id="10" name="Text 8"/>
          <p:cNvSpPr/>
          <p:nvPr/>
        </p:nvSpPr>
        <p:spPr>
          <a:xfrm>
            <a:off x="713232" y="1938528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3282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Red Sea / Houthi 2023-24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5394960" y="1956816"/>
            <a:ext cx="457200" cy="256032"/>
          </a:xfrm>
          <a:prstGeom prst="rect">
            <a:avLst/>
          </a:prstGeom>
          <a:solidFill>
            <a:srgbClr val="1E8E56"/>
          </a:solidFill>
          <a:ln/>
        </p:spPr>
      </p:sp>
      <p:sp>
        <p:nvSpPr>
          <p:cNvPr id="12" name="Text 10"/>
          <p:cNvSpPr/>
          <p:nvPr/>
        </p:nvSpPr>
        <p:spPr>
          <a:xfrm>
            <a:off x="5394960" y="1956816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713232" y="2249424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6C748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8.7 → 4.0 mb/d   ·   Brent +14%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713232" y="2487168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9A621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lead time: +26 d early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502920" y="2871216"/>
            <a:ext cx="548640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3DF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02920" y="2871216"/>
            <a:ext cx="64008" cy="914400"/>
          </a:xfrm>
          <a:prstGeom prst="rect">
            <a:avLst/>
          </a:prstGeom>
          <a:solidFill>
            <a:srgbClr val="1E8E56"/>
          </a:solidFill>
          <a:ln/>
        </p:spPr>
      </p:sp>
      <p:sp>
        <p:nvSpPr>
          <p:cNvPr id="17" name="Text 15"/>
          <p:cNvSpPr/>
          <p:nvPr/>
        </p:nvSpPr>
        <p:spPr>
          <a:xfrm>
            <a:off x="713232" y="2962656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3282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Hormuz 2026 (live replay)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5394960" y="2980944"/>
            <a:ext cx="457200" cy="256032"/>
          </a:xfrm>
          <a:prstGeom prst="rect">
            <a:avLst/>
          </a:prstGeom>
          <a:solidFill>
            <a:srgbClr val="1E8E56"/>
          </a:solidFill>
          <a:ln/>
        </p:spPr>
      </p:sp>
      <p:sp>
        <p:nvSpPr>
          <p:cNvPr id="19" name="Text 17"/>
          <p:cNvSpPr/>
          <p:nvPr/>
        </p:nvSpPr>
        <p:spPr>
          <a:xfrm>
            <a:off x="5394960" y="2980944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713232" y="3273552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6C748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~150 tankers anchored   ·   Brent &gt;50%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713232" y="3511296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9A621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lead time: +4 d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502920" y="3941064"/>
            <a:ext cx="54864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00" i="1" dirty="0">
                <a:solidFill>
                  <a:srgbClr val="9A621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“India's desks validated it: non-Hormuz sourcing rose 55% → 70%; suppliers widened 27 → 41 countries.”  We didn't ask an expert — we let the market grade it.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6263640" y="1536192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spc="100" kern="0" dirty="0">
                <a:solidFill>
                  <a:srgbClr val="B77514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EVERY CARD CARRIES A PROVENANCE CHIP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6263640" y="1847088"/>
            <a:ext cx="5394960" cy="3458555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8100000">
              <a:srgbClr val="7A7266">
                <a:alpha val="28000"/>
              </a:srgbClr>
            </a:outerShdw>
          </a:effectLst>
        </p:spPr>
      </p:sp>
      <p:pic>
        <p:nvPicPr>
          <p:cNvPr id="25" name="Image 0" descr="/private/tmp/claude-501/-Users-aman-Downloads-ET-Hackathon/ab60fbe1-6f03-48e5-aa7b-8b187ce1082a/scratchpad/deck-assets/plan_condition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63640" y="1847088"/>
            <a:ext cx="5394960" cy="3458555"/>
          </a:xfrm>
          <a:prstGeom prst="rect">
            <a:avLst/>
          </a:prstGeom>
        </p:spPr>
      </p:pic>
      <p:sp>
        <p:nvSpPr>
          <p:cNvPr id="26" name="Shape 23"/>
          <p:cNvSpPr/>
          <p:nvPr/>
        </p:nvSpPr>
        <p:spPr>
          <a:xfrm>
            <a:off x="6263640" y="1847088"/>
            <a:ext cx="5394960" cy="3458555"/>
          </a:xfrm>
          <a:prstGeom prst="rect">
            <a:avLst/>
          </a:prstGeom>
          <a:ln w="12700">
            <a:solidFill>
              <a:srgbClr val="E3DFD6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6263640" y="5360507"/>
            <a:ext cx="5394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8E56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LIVE </a:t>
            </a:r>
            <a:pPr algn="l" indent="0" marL="0">
              <a:buNone/>
            </a:pPr>
            <a:r>
              <a:rPr lang="en-US" sz="1100" dirty="0">
                <a:solidFill>
                  <a:srgbClr val="6C748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R real   </a:t>
            </a:r>
            <a:pPr algn="l" indent="0" marL="0">
              <a:buNone/>
            </a:pPr>
            <a:r>
              <a:rPr lang="en-US" sz="1100" b="1" dirty="0">
                <a:solidFill>
                  <a:srgbClr val="B77514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CACHED </a:t>
            </a:r>
            <a:pPr algn="l" indent="0" marL="0">
              <a:buNone/>
            </a:pPr>
            <a:r>
              <a:rPr lang="en-US" sz="1100" dirty="0">
                <a:solidFill>
                  <a:srgbClr val="6C748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E estimated   </a:t>
            </a:r>
            <a:pPr algn="l" indent="0" marL="0">
              <a:buNone/>
            </a:pPr>
            <a:r>
              <a:rPr lang="en-US" sz="1100" b="1" dirty="0">
                <a:solidFill>
                  <a:srgbClr val="7A5CD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SYNTH </a:t>
            </a:r>
            <a:pPr algn="l" indent="0" marL="0">
              <a:buNone/>
            </a:pPr>
            <a:r>
              <a:rPr lang="en-US" sz="1100" dirty="0">
                <a:solidFill>
                  <a:srgbClr val="6C748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 synthetic</a:t>
            </a:r>
            <a:endParaRPr lang="en-US" sz="1100" dirty="0"/>
          </a:p>
        </p:txBody>
      </p:sp>
      <p:sp>
        <p:nvSpPr>
          <p:cNvPr id="28" name="Text 25"/>
          <p:cNvSpPr/>
          <p:nvPr/>
        </p:nvSpPr>
        <p:spPr>
          <a:xfrm>
            <a:off x="6263640" y="5689691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050" i="1" dirty="0">
                <a:solidFill>
                  <a:srgbClr val="6C748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The LLM runs LIVE (NVIDIA, via a key-holding edge worker) and every completion is recorded for replay; airplane mode falls back to the build-time cache. Per-refinery inventories are modeled (S), and we say so.</a:t>
            </a:r>
            <a:endParaRPr lang="en-US" sz="1050" dirty="0"/>
          </a:p>
        </p:txBody>
      </p:sp>
      <p:sp>
        <p:nvSpPr>
          <p:cNvPr id="29" name="Text 26"/>
          <p:cNvSpPr/>
          <p:nvPr/>
        </p:nvSpPr>
        <p:spPr>
          <a:xfrm>
            <a:off x="502920" y="6492240"/>
            <a:ext cx="9509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i="1" dirty="0">
                <a:solidFill>
                  <a:srgbClr val="6C748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The honest claim isn't “everything is real” — it's “nothing is fabricated, and every number shows exactly how certain it is.”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6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19556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spc="100" kern="0" dirty="0">
                <a:solidFill>
                  <a:srgbClr val="6C74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△ TRINETRA</a:t>
            </a:r>
            <a:endParaRPr lang="en-US" sz="900" dirty="0"/>
          </a:p>
        </p:txBody>
      </p:sp>
      <p:sp>
        <p:nvSpPr>
          <p:cNvPr id="3" name="Shape 1"/>
          <p:cNvSpPr/>
          <p:nvPr/>
        </p:nvSpPr>
        <p:spPr>
          <a:xfrm>
            <a:off x="521208" y="484632"/>
            <a:ext cx="146304" cy="256032"/>
          </a:xfrm>
          <a:prstGeom prst="rect">
            <a:avLst/>
          </a:prstGeom>
          <a:solidFill>
            <a:srgbClr val="B77514"/>
          </a:solidFill>
          <a:ln/>
        </p:spPr>
      </p:sp>
      <p:sp>
        <p:nvSpPr>
          <p:cNvPr id="4" name="Text 2"/>
          <p:cNvSpPr/>
          <p:nvPr/>
        </p:nvSpPr>
        <p:spPr>
          <a:xfrm>
            <a:off x="777240" y="457200"/>
            <a:ext cx="10881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B775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CHANGE ONE RULE  →  THE PLAN RE-DECIDES ITSELF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02920" y="841248"/>
            <a:ext cx="11155680" cy="12802"/>
          </a:xfrm>
          <a:prstGeom prst="rect">
            <a:avLst/>
          </a:prstGeom>
          <a:solidFill>
            <a:srgbClr val="E3DFD6"/>
          </a:solidFill>
          <a:ln/>
        </p:spPr>
      </p:sp>
      <p:sp>
        <p:nvSpPr>
          <p:cNvPr id="6" name="Text 4"/>
          <p:cNvSpPr/>
          <p:nvPr/>
        </p:nvSpPr>
        <p:spPr>
          <a:xfrm>
            <a:off x="502920" y="914400"/>
            <a:ext cx="11155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23282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Raise the security floor 10 → 15. Long-haul cargoes fail — each cites the rule.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502920" y="1572768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spc="100" kern="0" dirty="0">
                <a:solidFill>
                  <a:srgbClr val="B77514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FLOOR 10 — CONDITIONAL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502920" y="1874520"/>
            <a:ext cx="5303520" cy="1005407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8100000">
              <a:srgbClr val="7A7266">
                <a:alpha val="28000"/>
              </a:srgbClr>
            </a:outerShdw>
          </a:effectLst>
        </p:spPr>
      </p:sp>
      <p:pic>
        <p:nvPicPr>
          <p:cNvPr id="9" name="Image 0" descr="/private/tmp/claude-501/-Users-aman-Downloads-ET-Hackathon/ab60fbe1-6f03-48e5-aa7b-8b187ce1082a/scratchpad/deck-assets/merey_obj_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874520"/>
            <a:ext cx="5303520" cy="1005407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502920" y="1874520"/>
            <a:ext cx="5303520" cy="1005407"/>
          </a:xfrm>
          <a:prstGeom prst="rect">
            <a:avLst/>
          </a:prstGeom>
          <a:ln w="19050">
            <a:solidFill>
              <a:srgbClr val="B77514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5897880" y="1965960"/>
            <a:ext cx="548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6C748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→</a:t>
            </a:r>
            <a:endParaRPr lang="en-US" sz="4000" dirty="0"/>
          </a:p>
        </p:txBody>
      </p:sp>
      <p:sp>
        <p:nvSpPr>
          <p:cNvPr id="12" name="Text 9"/>
          <p:cNvSpPr/>
          <p:nvPr/>
        </p:nvSpPr>
        <p:spPr>
          <a:xfrm>
            <a:off x="6355080" y="1572768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spc="100" kern="0" dirty="0">
                <a:solidFill>
                  <a:srgbClr val="C0442E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FLOOR 15 — REJECTED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6355080" y="1874520"/>
            <a:ext cx="5303520" cy="1005407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8100000">
              <a:srgbClr val="7A7266">
                <a:alpha val="28000"/>
              </a:srgbClr>
            </a:outerShdw>
          </a:effectLst>
        </p:spPr>
      </p:sp>
      <p:pic>
        <p:nvPicPr>
          <p:cNvPr id="14" name="Image 1" descr="/private/tmp/claude-501/-Users-aman-Downloads-ET-Hackathon/ab60fbe1-6f03-48e5-aa7b-8b187ce1082a/scratchpad/deck-assets/merey_bloc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1874520"/>
            <a:ext cx="5303520" cy="1005407"/>
          </a:xfrm>
          <a:prstGeom prst="rect">
            <a:avLst/>
          </a:prstGeom>
        </p:spPr>
      </p:pic>
      <p:sp>
        <p:nvSpPr>
          <p:cNvPr id="15" name="Shape 11"/>
          <p:cNvSpPr/>
          <p:nvPr/>
        </p:nvSpPr>
        <p:spPr>
          <a:xfrm>
            <a:off x="6355080" y="1874520"/>
            <a:ext cx="5303520" cy="1005407"/>
          </a:xfrm>
          <a:prstGeom prst="rect">
            <a:avLst/>
          </a:prstGeom>
          <a:ln w="19050">
            <a:solidFill>
              <a:srgbClr val="C0442E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502920" y="2989655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23282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Same fact — 43-day voyage vs 12.2-day cover. The flag escalates to a block; the arbiter rejects it. Six Jamnagar-bound cargoes fall the same way.</a:t>
            </a:r>
            <a:endParaRPr lang="en-US" sz="1300" dirty="0"/>
          </a:p>
        </p:txBody>
      </p:sp>
      <p:sp>
        <p:nvSpPr>
          <p:cNvPr id="17" name="Shape 13"/>
          <p:cNvSpPr/>
          <p:nvPr/>
        </p:nvSpPr>
        <p:spPr>
          <a:xfrm>
            <a:off x="502920" y="3428567"/>
            <a:ext cx="3977640" cy="2549951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8100000">
              <a:srgbClr val="7A7266">
                <a:alpha val="28000"/>
              </a:srgbClr>
            </a:outerShdw>
          </a:effectLst>
        </p:spPr>
      </p:sp>
      <p:pic>
        <p:nvPicPr>
          <p:cNvPr id="18" name="Image 2" descr="/private/tmp/claude-501/-Users-aman-Downloads-ET-Hackathon/ab60fbe1-6f03-48e5-aa7b-8b187ce1082a/scratchpad/deck-assets/charter_after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3428567"/>
            <a:ext cx="3977640" cy="2549951"/>
          </a:xfrm>
          <a:prstGeom prst="rect">
            <a:avLst/>
          </a:prstGeom>
        </p:spPr>
      </p:pic>
      <p:sp>
        <p:nvSpPr>
          <p:cNvPr id="19" name="Shape 14"/>
          <p:cNvSpPr/>
          <p:nvPr/>
        </p:nvSpPr>
        <p:spPr>
          <a:xfrm>
            <a:off x="502920" y="3428567"/>
            <a:ext cx="3977640" cy="2549951"/>
          </a:xfrm>
          <a:prstGeom prst="rect">
            <a:avLst/>
          </a:prstGeom>
          <a:ln w="12700">
            <a:solidFill>
              <a:srgbClr val="E3DFD6"/>
            </a:solidFill>
            <a:prstDash val="solid"/>
          </a:ln>
        </p:spPr>
      </p:sp>
      <p:sp>
        <p:nvSpPr>
          <p:cNvPr id="20" name="Text 15"/>
          <p:cNvSpPr/>
          <p:nvPr/>
        </p:nvSpPr>
        <p:spPr>
          <a:xfrm>
            <a:off x="4754880" y="3483431"/>
            <a:ext cx="6903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spc="100" kern="0" dirty="0">
                <a:solidFill>
                  <a:srgbClr val="B77514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AND IT'S ON THE RECORD</a:t>
            </a:r>
            <a:endParaRPr lang="en-US" sz="1300" dirty="0"/>
          </a:p>
        </p:txBody>
      </p:sp>
      <p:sp>
        <p:nvSpPr>
          <p:cNvPr id="21" name="Text 16"/>
          <p:cNvSpPr/>
          <p:nvPr/>
        </p:nvSpPr>
        <p:spPr>
          <a:xfrm>
            <a:off x="4754880" y="3867479"/>
            <a:ext cx="69037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400" dirty="0">
                <a:solidFill>
                  <a:srgbClr val="23282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Every verdict is hash-chained (seq · actor · input→output · prev) and re-runs byte-identically, offline. Revert to 10 and the earlier state's hashes reproduce exactly — no clock, no randomness on the derivation path. One click prints the trace on white: the signed prop.</a:t>
            </a:r>
            <a:endParaRPr lang="en-US" sz="1400" dirty="0"/>
          </a:p>
        </p:txBody>
      </p:sp>
      <p:sp>
        <p:nvSpPr>
          <p:cNvPr id="22" name="Text 17"/>
          <p:cNvSpPr/>
          <p:nvPr/>
        </p:nvSpPr>
        <p:spPr>
          <a:xfrm>
            <a:off x="4754880" y="5521318"/>
            <a:ext cx="6903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i="1" dirty="0">
                <a:solidFill>
                  <a:srgbClr val="9A621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“Run it again — byte-identical. Try that with a prompt.”</a:t>
            </a:r>
            <a:endParaRPr lang="en-US" sz="1600" dirty="0"/>
          </a:p>
        </p:txBody>
      </p:sp>
      <p:sp>
        <p:nvSpPr>
          <p:cNvPr id="23" name="Text 18"/>
          <p:cNvSpPr/>
          <p:nvPr/>
        </p:nvSpPr>
        <p:spPr>
          <a:xfrm>
            <a:off x="502920" y="6492240"/>
            <a:ext cx="9509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i="1" dirty="0">
                <a:solidFill>
                  <a:srgbClr val="6C748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No Date.now / Math.random on any derivation path — sim time only. The signed audit trace is the artifact a fine-tuned forecaster cannot produce.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6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19556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spc="100" kern="0" dirty="0">
                <a:solidFill>
                  <a:srgbClr val="6C74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△ TRINETRA</a:t>
            </a:r>
            <a:endParaRPr lang="en-US" sz="900" dirty="0"/>
          </a:p>
        </p:txBody>
      </p:sp>
      <p:sp>
        <p:nvSpPr>
          <p:cNvPr id="3" name="Shape 1"/>
          <p:cNvSpPr/>
          <p:nvPr/>
        </p:nvSpPr>
        <p:spPr>
          <a:xfrm>
            <a:off x="521208" y="484632"/>
            <a:ext cx="146304" cy="256032"/>
          </a:xfrm>
          <a:prstGeom prst="rect">
            <a:avLst/>
          </a:prstGeom>
          <a:solidFill>
            <a:srgbClr val="B77514"/>
          </a:solidFill>
          <a:ln/>
        </p:spPr>
      </p:sp>
      <p:sp>
        <p:nvSpPr>
          <p:cNvPr id="4" name="Text 2"/>
          <p:cNvSpPr/>
          <p:nvPr/>
        </p:nvSpPr>
        <p:spPr>
          <a:xfrm>
            <a:off x="777240" y="457200"/>
            <a:ext cx="10881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B775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DETERMINISTIC CORE  ·  LLM ONLY AT THE EDGES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02920" y="841248"/>
            <a:ext cx="11155680" cy="12802"/>
          </a:xfrm>
          <a:prstGeom prst="rect">
            <a:avLst/>
          </a:prstGeom>
          <a:solidFill>
            <a:srgbClr val="E3DFD6"/>
          </a:solidFill>
          <a:ln/>
        </p:spPr>
      </p:sp>
      <p:sp>
        <p:nvSpPr>
          <p:cNvPr id="6" name="Text 4"/>
          <p:cNvSpPr/>
          <p:nvPr/>
        </p:nvSpPr>
        <p:spPr>
          <a:xfrm>
            <a:off x="502920" y="914400"/>
            <a:ext cx="11155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23282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Boring, inspectable, event-driven.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502920" y="1965960"/>
            <a:ext cx="141732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E3DFD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02920" y="2112264"/>
            <a:ext cx="1417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23282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SIGNALS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502920" y="2459736"/>
            <a:ext cx="1417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6C748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pure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1920240" y="2400300"/>
            <a:ext cx="205740" cy="0"/>
          </a:xfrm>
          <a:prstGeom prst="line">
            <a:avLst/>
          </a:prstGeom>
          <a:noFill/>
          <a:ln w="19050">
            <a:solidFill>
              <a:srgbClr val="B77514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2125980" y="1965960"/>
            <a:ext cx="141732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E3DFD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125980" y="2112264"/>
            <a:ext cx="1417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23282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RESCORE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2125980" y="2459736"/>
            <a:ext cx="1417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6C748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pure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3543300" y="2400300"/>
            <a:ext cx="205740" cy="0"/>
          </a:xfrm>
          <a:prstGeom prst="line">
            <a:avLst/>
          </a:prstGeom>
          <a:noFill/>
          <a:ln w="19050">
            <a:solidFill>
              <a:srgbClr val="B77514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3749040" y="1965960"/>
            <a:ext cx="141732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E3DFD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749040" y="2112264"/>
            <a:ext cx="1417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23282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OPTIONS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3749040" y="2459736"/>
            <a:ext cx="1417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6C748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pure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5166360" y="2400300"/>
            <a:ext cx="205740" cy="0"/>
          </a:xfrm>
          <a:prstGeom prst="line">
            <a:avLst/>
          </a:prstGeom>
          <a:noFill/>
          <a:ln w="19050">
            <a:solidFill>
              <a:srgbClr val="B77514"/>
            </a:solidFill>
            <a:prstDash val="solid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5372100" y="1965960"/>
            <a:ext cx="141732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E3DFD6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372100" y="2112264"/>
            <a:ext cx="1417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9A621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PROPOSER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5372100" y="2459736"/>
            <a:ext cx="1417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6C748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LIVE LLM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6789420" y="2400300"/>
            <a:ext cx="205740" cy="0"/>
          </a:xfrm>
          <a:prstGeom prst="line">
            <a:avLst/>
          </a:prstGeom>
          <a:noFill/>
          <a:ln w="19050">
            <a:solidFill>
              <a:srgbClr val="B77514"/>
            </a:solidFill>
            <a:prstDash val="solid"/>
            <a:tailEnd type="triangle"/>
          </a:ln>
        </p:spPr>
      </p:sp>
      <p:sp>
        <p:nvSpPr>
          <p:cNvPr id="23" name="Shape 21"/>
          <p:cNvSpPr/>
          <p:nvPr/>
        </p:nvSpPr>
        <p:spPr>
          <a:xfrm>
            <a:off x="6995160" y="1965960"/>
            <a:ext cx="1417320" cy="868680"/>
          </a:xfrm>
          <a:prstGeom prst="rect">
            <a:avLst/>
          </a:prstGeom>
          <a:solidFill>
            <a:srgbClr val="FFFFFF"/>
          </a:solidFill>
          <a:ln w="25400">
            <a:solidFill>
              <a:srgbClr val="1E8E56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995160" y="2112264"/>
            <a:ext cx="1417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E8E56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CRITIC</a:t>
            </a:r>
            <a:endParaRPr lang="en-US" sz="1250" dirty="0"/>
          </a:p>
        </p:txBody>
      </p:sp>
      <p:sp>
        <p:nvSpPr>
          <p:cNvPr id="25" name="Text 23"/>
          <p:cNvSpPr/>
          <p:nvPr/>
        </p:nvSpPr>
        <p:spPr>
          <a:xfrm>
            <a:off x="6995160" y="2459736"/>
            <a:ext cx="1417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6C748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ZERO LLM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8412480" y="2400300"/>
            <a:ext cx="205740" cy="0"/>
          </a:xfrm>
          <a:prstGeom prst="line">
            <a:avLst/>
          </a:prstGeom>
          <a:noFill/>
          <a:ln w="19050">
            <a:solidFill>
              <a:srgbClr val="B77514"/>
            </a:solidFill>
            <a:prstDash val="solid"/>
            <a:tailEnd type="triangle"/>
          </a:ln>
        </p:spPr>
      </p:sp>
      <p:sp>
        <p:nvSpPr>
          <p:cNvPr id="27" name="Shape 25"/>
          <p:cNvSpPr/>
          <p:nvPr/>
        </p:nvSpPr>
        <p:spPr>
          <a:xfrm>
            <a:off x="8618220" y="1965960"/>
            <a:ext cx="141732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E3DFD6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618220" y="2112264"/>
            <a:ext cx="1417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23282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ARBITER</a:t>
            </a:r>
            <a:endParaRPr lang="en-US" sz="1250" dirty="0"/>
          </a:p>
        </p:txBody>
      </p:sp>
      <p:sp>
        <p:nvSpPr>
          <p:cNvPr id="29" name="Text 27"/>
          <p:cNvSpPr/>
          <p:nvPr/>
        </p:nvSpPr>
        <p:spPr>
          <a:xfrm>
            <a:off x="8618220" y="2459736"/>
            <a:ext cx="1417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6C748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pure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10035540" y="2400300"/>
            <a:ext cx="205740" cy="0"/>
          </a:xfrm>
          <a:prstGeom prst="line">
            <a:avLst/>
          </a:prstGeom>
          <a:noFill/>
          <a:ln w="19050">
            <a:solidFill>
              <a:srgbClr val="B77514"/>
            </a:solidFill>
            <a:prstDash val="solid"/>
            <a:tailEnd type="triangle"/>
          </a:ln>
        </p:spPr>
      </p:sp>
      <p:sp>
        <p:nvSpPr>
          <p:cNvPr id="31" name="Shape 29"/>
          <p:cNvSpPr/>
          <p:nvPr/>
        </p:nvSpPr>
        <p:spPr>
          <a:xfrm>
            <a:off x="10241280" y="1965960"/>
            <a:ext cx="141732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E3DFD6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0241280" y="2112264"/>
            <a:ext cx="1417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2F6296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AUDIT</a:t>
            </a:r>
            <a:endParaRPr lang="en-US" sz="1250" dirty="0"/>
          </a:p>
        </p:txBody>
      </p:sp>
      <p:sp>
        <p:nvSpPr>
          <p:cNvPr id="33" name="Text 31"/>
          <p:cNvSpPr/>
          <p:nvPr/>
        </p:nvSpPr>
        <p:spPr>
          <a:xfrm>
            <a:off x="10241280" y="2459736"/>
            <a:ext cx="1417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6C748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hash chain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502920" y="2999232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6C748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solid = deterministic   ·   proposer prose is LIVE (NVIDIA via a key-holding edge worker), recorded for replay; cache is the airplane-mode fallback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502920" y="3611880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spc="100" kern="0" dirty="0">
                <a:solidFill>
                  <a:srgbClr val="B77514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THE RIGHT TOOL PER LAYER — chosen by what each layer is allowed to get wrong</a:t>
            </a:r>
            <a:endParaRPr lang="en-US" sz="1200" dirty="0"/>
          </a:p>
        </p:txBody>
      </p:sp>
      <p:sp>
        <p:nvSpPr>
          <p:cNvPr id="36" name="Shape 34"/>
          <p:cNvSpPr/>
          <p:nvPr/>
        </p:nvSpPr>
        <p:spPr>
          <a:xfrm>
            <a:off x="502920" y="3977640"/>
            <a:ext cx="1115568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E3DFD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02920" y="3977640"/>
            <a:ext cx="64008" cy="658368"/>
          </a:xfrm>
          <a:prstGeom prst="rect">
            <a:avLst/>
          </a:prstGeom>
          <a:solidFill>
            <a:srgbClr val="1E8E56"/>
          </a:solidFill>
          <a:ln/>
        </p:spPr>
      </p:sp>
      <p:sp>
        <p:nvSpPr>
          <p:cNvPr id="38" name="Text 36"/>
          <p:cNvSpPr/>
          <p:nvPr/>
        </p:nvSpPr>
        <p:spPr>
          <a:xfrm>
            <a:off x="731520" y="3977640"/>
            <a:ext cx="23774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E8E56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RULES</a:t>
            </a:r>
            <a:endParaRPr lang="en-US" sz="1600" dirty="0"/>
          </a:p>
        </p:txBody>
      </p:sp>
      <p:sp>
        <p:nvSpPr>
          <p:cNvPr id="39" name="Text 37"/>
          <p:cNvSpPr/>
          <p:nvPr/>
        </p:nvSpPr>
        <p:spPr>
          <a:xfrm>
            <a:off x="3200400" y="3977640"/>
            <a:ext cx="25603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23282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for the veto</a:t>
            </a:r>
            <a:endParaRPr lang="en-US" sz="1300" dirty="0"/>
          </a:p>
        </p:txBody>
      </p:sp>
      <p:sp>
        <p:nvSpPr>
          <p:cNvPr id="40" name="Text 38"/>
          <p:cNvSpPr/>
          <p:nvPr/>
        </p:nvSpPr>
        <p:spPr>
          <a:xfrm>
            <a:off x="5760720" y="3977640"/>
            <a:ext cx="5852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6C748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must be citable &amp; cannot hallucinate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502920" y="4727448"/>
            <a:ext cx="1115568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E3DFD6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502920" y="4727448"/>
            <a:ext cx="64008" cy="658368"/>
          </a:xfrm>
          <a:prstGeom prst="rect">
            <a:avLst/>
          </a:prstGeom>
          <a:solidFill>
            <a:srgbClr val="9A6212"/>
          </a:solidFill>
          <a:ln/>
        </p:spPr>
      </p:sp>
      <p:sp>
        <p:nvSpPr>
          <p:cNvPr id="43" name="Text 41"/>
          <p:cNvSpPr/>
          <p:nvPr/>
        </p:nvSpPr>
        <p:spPr>
          <a:xfrm>
            <a:off x="731520" y="4727448"/>
            <a:ext cx="23774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9A621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OUR MODEL</a:t>
            </a:r>
            <a:endParaRPr lang="en-US" sz="1600" dirty="0"/>
          </a:p>
        </p:txBody>
      </p:sp>
      <p:sp>
        <p:nvSpPr>
          <p:cNvPr id="44" name="Text 42"/>
          <p:cNvSpPr/>
          <p:nvPr/>
        </p:nvSpPr>
        <p:spPr>
          <a:xfrm>
            <a:off x="3200400" y="4727448"/>
            <a:ext cx="25603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23282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for the number</a:t>
            </a:r>
            <a:endParaRPr lang="en-US" sz="1300" dirty="0"/>
          </a:p>
        </p:txBody>
      </p:sp>
      <p:sp>
        <p:nvSpPr>
          <p:cNvPr id="45" name="Text 43"/>
          <p:cNvSpPr/>
          <p:nvPr/>
        </p:nvSpPr>
        <p:spPr>
          <a:xfrm>
            <a:off x="5760720" y="4727448"/>
            <a:ext cx="5852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6C748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softmax, frozen weights — byte-identical every run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502920" y="5477256"/>
            <a:ext cx="1115568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E3DFD6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502920" y="5477256"/>
            <a:ext cx="64008" cy="658368"/>
          </a:xfrm>
          <a:prstGeom prst="rect">
            <a:avLst/>
          </a:prstGeom>
          <a:solidFill>
            <a:srgbClr val="2F6296"/>
          </a:solidFill>
          <a:ln/>
        </p:spPr>
      </p:sp>
      <p:sp>
        <p:nvSpPr>
          <p:cNvPr id="48" name="Text 46"/>
          <p:cNvSpPr/>
          <p:nvPr/>
        </p:nvSpPr>
        <p:spPr>
          <a:xfrm>
            <a:off x="731520" y="5477256"/>
            <a:ext cx="23774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2F6296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ONE LLM</a:t>
            </a:r>
            <a:endParaRPr lang="en-US" sz="1600" dirty="0"/>
          </a:p>
        </p:txBody>
      </p:sp>
      <p:sp>
        <p:nvSpPr>
          <p:cNvPr id="49" name="Text 47"/>
          <p:cNvSpPr/>
          <p:nvPr/>
        </p:nvSpPr>
        <p:spPr>
          <a:xfrm>
            <a:off x="3200400" y="5477256"/>
            <a:ext cx="25603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23282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for the sentence</a:t>
            </a:r>
            <a:endParaRPr lang="en-US" sz="1300" dirty="0"/>
          </a:p>
        </p:txBody>
      </p:sp>
      <p:sp>
        <p:nvSpPr>
          <p:cNvPr id="50" name="Text 48"/>
          <p:cNvSpPr/>
          <p:nvPr/>
        </p:nvSpPr>
        <p:spPr>
          <a:xfrm>
            <a:off x="5760720" y="5477256"/>
            <a:ext cx="5852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6C748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live at the edges, recorded for replay — only prose may vary</a:t>
            </a:r>
            <a:endParaRPr lang="en-US" sz="1200" dirty="0"/>
          </a:p>
        </p:txBody>
      </p:sp>
      <p:sp>
        <p:nvSpPr>
          <p:cNvPr id="51" name="Text 49"/>
          <p:cNvSpPr/>
          <p:nvPr/>
        </p:nvSpPr>
        <p:spPr>
          <a:xfrm>
            <a:off x="502920" y="6492240"/>
            <a:ext cx="9509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i="1" dirty="0">
                <a:solidFill>
                  <a:srgbClr val="6C748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“One big LLM” would hallucinate the compliance check, vary the number every run, and be un-replayable — breaking the audit trail that is the moat.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6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19556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spc="100" kern="0" dirty="0">
                <a:solidFill>
                  <a:srgbClr val="6C74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△ TRINETRA</a:t>
            </a:r>
            <a:endParaRPr lang="en-US" sz="900" dirty="0"/>
          </a:p>
        </p:txBody>
      </p:sp>
      <p:sp>
        <p:nvSpPr>
          <p:cNvPr id="3" name="Shape 1"/>
          <p:cNvSpPr/>
          <p:nvPr/>
        </p:nvSpPr>
        <p:spPr>
          <a:xfrm>
            <a:off x="521208" y="484632"/>
            <a:ext cx="146304" cy="256032"/>
          </a:xfrm>
          <a:prstGeom prst="rect">
            <a:avLst/>
          </a:prstGeom>
          <a:solidFill>
            <a:srgbClr val="B77514"/>
          </a:solidFill>
          <a:ln/>
        </p:spPr>
      </p:sp>
      <p:sp>
        <p:nvSpPr>
          <p:cNvPr id="4" name="Text 2"/>
          <p:cNvSpPr/>
          <p:nvPr/>
        </p:nvSpPr>
        <p:spPr>
          <a:xfrm>
            <a:off x="777240" y="457200"/>
            <a:ext cx="10881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B775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AI FOR SENSE-MAKING  ·  RULES FOR SCORING  ·  HUMANS FOR APPROVAL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02920" y="841248"/>
            <a:ext cx="11155680" cy="12802"/>
          </a:xfrm>
          <a:prstGeom prst="rect">
            <a:avLst/>
          </a:prstGeom>
          <a:solidFill>
            <a:srgbClr val="E3DFD6"/>
          </a:solidFill>
          <a:ln/>
        </p:spPr>
      </p:sp>
      <p:sp>
        <p:nvSpPr>
          <p:cNvPr id="6" name="Text 4"/>
          <p:cNvSpPr/>
          <p:nvPr/>
        </p:nvSpPr>
        <p:spPr>
          <a:xfrm>
            <a:off x="502920" y="914400"/>
            <a:ext cx="11155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23282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Now it reads messy operator text — and the gate throws out whatever it makes up.</a:t>
            </a:r>
            <a:endParaRPr lang="en-US" sz="2100" dirty="0"/>
          </a:p>
        </p:txBody>
      </p:sp>
      <p:sp>
        <p:nvSpPr>
          <p:cNvPr id="7" name="Shape 5"/>
          <p:cNvSpPr/>
          <p:nvPr/>
        </p:nvSpPr>
        <p:spPr>
          <a:xfrm>
            <a:off x="502920" y="1572768"/>
            <a:ext cx="1828800" cy="1024128"/>
          </a:xfrm>
          <a:prstGeom prst="rect">
            <a:avLst/>
          </a:prstGeom>
          <a:solidFill>
            <a:srgbClr val="FFFFFF"/>
          </a:solidFill>
          <a:ln w="12700">
            <a:solidFill>
              <a:srgbClr val="E3DFD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02920" y="1572768"/>
            <a:ext cx="1828800" cy="73152"/>
          </a:xfrm>
          <a:prstGeom prst="rect">
            <a:avLst/>
          </a:prstGeom>
          <a:solidFill>
            <a:srgbClr val="2F6296"/>
          </a:solidFill>
          <a:ln/>
        </p:spPr>
      </p:sp>
      <p:sp>
        <p:nvSpPr>
          <p:cNvPr id="9" name="Text 7"/>
          <p:cNvSpPr/>
          <p:nvPr/>
        </p:nvSpPr>
        <p:spPr>
          <a:xfrm>
            <a:off x="576072" y="1755648"/>
            <a:ext cx="16824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2F6296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① AI SENSE-MAKING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576072" y="2176272"/>
            <a:ext cx="16824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6C748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reads free text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576072" y="2395728"/>
            <a:ext cx="16824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i="1" spc="100" kern="0" dirty="0">
                <a:solidFill>
                  <a:srgbClr val="2F6296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advisory</a:t>
            </a:r>
            <a:endParaRPr lang="en-US" sz="800" dirty="0"/>
          </a:p>
        </p:txBody>
      </p:sp>
      <p:sp>
        <p:nvSpPr>
          <p:cNvPr id="12" name="Shape 10"/>
          <p:cNvSpPr/>
          <p:nvPr/>
        </p:nvSpPr>
        <p:spPr>
          <a:xfrm>
            <a:off x="2331720" y="2084832"/>
            <a:ext cx="502920" cy="0"/>
          </a:xfrm>
          <a:prstGeom prst="line">
            <a:avLst/>
          </a:prstGeom>
          <a:noFill/>
          <a:ln w="19050">
            <a:solidFill>
              <a:srgbClr val="B77514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2834640" y="1572768"/>
            <a:ext cx="1828800" cy="1024128"/>
          </a:xfrm>
          <a:prstGeom prst="rect">
            <a:avLst/>
          </a:prstGeom>
          <a:solidFill>
            <a:srgbClr val="FFFFFF"/>
          </a:solidFill>
          <a:ln w="25400">
            <a:solidFill>
              <a:srgbClr val="1E8E5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834640" y="1572768"/>
            <a:ext cx="1828800" cy="73152"/>
          </a:xfrm>
          <a:prstGeom prst="rect">
            <a:avLst/>
          </a:prstGeom>
          <a:solidFill>
            <a:srgbClr val="1E8E56"/>
          </a:solidFill>
          <a:ln/>
        </p:spPr>
      </p:sp>
      <p:sp>
        <p:nvSpPr>
          <p:cNvPr id="15" name="Text 13"/>
          <p:cNvSpPr/>
          <p:nvPr/>
        </p:nvSpPr>
        <p:spPr>
          <a:xfrm>
            <a:off x="2907792" y="1755648"/>
            <a:ext cx="16824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E8E56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② VALIDATION GATE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2907792" y="2176272"/>
            <a:ext cx="16824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6C748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strict schema + rules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2907792" y="2395728"/>
            <a:ext cx="16824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i="1" spc="100" kern="0" dirty="0">
                <a:solidFill>
                  <a:srgbClr val="1E8E56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authoritative</a:t>
            </a:r>
            <a:endParaRPr lang="en-US" sz="800" dirty="0"/>
          </a:p>
        </p:txBody>
      </p:sp>
      <p:sp>
        <p:nvSpPr>
          <p:cNvPr id="18" name="Shape 16"/>
          <p:cNvSpPr/>
          <p:nvPr/>
        </p:nvSpPr>
        <p:spPr>
          <a:xfrm>
            <a:off x="4663440" y="2084832"/>
            <a:ext cx="502920" cy="0"/>
          </a:xfrm>
          <a:prstGeom prst="line">
            <a:avLst/>
          </a:prstGeom>
          <a:noFill/>
          <a:ln w="19050">
            <a:solidFill>
              <a:srgbClr val="B77514"/>
            </a:solidFill>
            <a:prstDash val="solid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5166360" y="1572768"/>
            <a:ext cx="1828800" cy="1024128"/>
          </a:xfrm>
          <a:prstGeom prst="rect">
            <a:avLst/>
          </a:prstGeom>
          <a:solidFill>
            <a:srgbClr val="FFFFFF"/>
          </a:solidFill>
          <a:ln w="25400">
            <a:solidFill>
              <a:srgbClr val="1E8E5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166360" y="1572768"/>
            <a:ext cx="1828800" cy="73152"/>
          </a:xfrm>
          <a:prstGeom prst="rect">
            <a:avLst/>
          </a:prstGeom>
          <a:solidFill>
            <a:srgbClr val="1E8E56"/>
          </a:solidFill>
          <a:ln/>
        </p:spPr>
      </p:sp>
      <p:sp>
        <p:nvSpPr>
          <p:cNvPr id="21" name="Text 19"/>
          <p:cNvSpPr/>
          <p:nvPr/>
        </p:nvSpPr>
        <p:spPr>
          <a:xfrm>
            <a:off x="5239512" y="1755648"/>
            <a:ext cx="16824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E8E56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③ DETERMINISTIC SCORING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5239512" y="2176272"/>
            <a:ext cx="16824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6C748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rescore · critic · arbiter</a:t>
            </a:r>
            <a:endParaRPr lang="en-US" sz="850" dirty="0"/>
          </a:p>
        </p:txBody>
      </p:sp>
      <p:sp>
        <p:nvSpPr>
          <p:cNvPr id="23" name="Text 21"/>
          <p:cNvSpPr/>
          <p:nvPr/>
        </p:nvSpPr>
        <p:spPr>
          <a:xfrm>
            <a:off x="5239512" y="2395728"/>
            <a:ext cx="16824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i="1" spc="100" kern="0" dirty="0">
                <a:solidFill>
                  <a:srgbClr val="1E8E56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authoritative</a:t>
            </a:r>
            <a:endParaRPr lang="en-US" sz="800" dirty="0"/>
          </a:p>
        </p:txBody>
      </p:sp>
      <p:sp>
        <p:nvSpPr>
          <p:cNvPr id="24" name="Shape 22"/>
          <p:cNvSpPr/>
          <p:nvPr/>
        </p:nvSpPr>
        <p:spPr>
          <a:xfrm>
            <a:off x="6995160" y="2084832"/>
            <a:ext cx="502920" cy="0"/>
          </a:xfrm>
          <a:prstGeom prst="line">
            <a:avLst/>
          </a:prstGeom>
          <a:noFill/>
          <a:ln w="19050">
            <a:solidFill>
              <a:srgbClr val="B77514"/>
            </a:solidFill>
            <a:prstDash val="solid"/>
            <a:tailEnd type="triangle"/>
          </a:ln>
        </p:spPr>
      </p:sp>
      <p:sp>
        <p:nvSpPr>
          <p:cNvPr id="25" name="Shape 23"/>
          <p:cNvSpPr/>
          <p:nvPr/>
        </p:nvSpPr>
        <p:spPr>
          <a:xfrm>
            <a:off x="7498080" y="1572768"/>
            <a:ext cx="1828800" cy="1024128"/>
          </a:xfrm>
          <a:prstGeom prst="rect">
            <a:avLst/>
          </a:prstGeom>
          <a:solidFill>
            <a:srgbClr val="FFFFFF"/>
          </a:solidFill>
          <a:ln w="12700">
            <a:solidFill>
              <a:srgbClr val="E3DFD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7498080" y="1572768"/>
            <a:ext cx="1828800" cy="73152"/>
          </a:xfrm>
          <a:prstGeom prst="rect">
            <a:avLst/>
          </a:prstGeom>
          <a:solidFill>
            <a:srgbClr val="2F6296"/>
          </a:solidFill>
          <a:ln/>
        </p:spPr>
      </p:sp>
      <p:sp>
        <p:nvSpPr>
          <p:cNvPr id="27" name="Text 25"/>
          <p:cNvSpPr/>
          <p:nvPr/>
        </p:nvSpPr>
        <p:spPr>
          <a:xfrm>
            <a:off x="7571232" y="1755648"/>
            <a:ext cx="16824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2F6296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④ AI RULE AUDIT</a:t>
            </a:r>
            <a:endParaRPr lang="en-US" sz="1150" dirty="0"/>
          </a:p>
        </p:txBody>
      </p:sp>
      <p:sp>
        <p:nvSpPr>
          <p:cNvPr id="28" name="Text 26"/>
          <p:cNvSpPr/>
          <p:nvPr/>
        </p:nvSpPr>
        <p:spPr>
          <a:xfrm>
            <a:off x="7571232" y="2176272"/>
            <a:ext cx="16824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6C748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rule gaps · read-only</a:t>
            </a:r>
            <a:endParaRPr lang="en-US" sz="850" dirty="0"/>
          </a:p>
        </p:txBody>
      </p:sp>
      <p:sp>
        <p:nvSpPr>
          <p:cNvPr id="29" name="Text 27"/>
          <p:cNvSpPr/>
          <p:nvPr/>
        </p:nvSpPr>
        <p:spPr>
          <a:xfrm>
            <a:off x="7571232" y="2395728"/>
            <a:ext cx="16824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i="1" spc="100" kern="0" dirty="0">
                <a:solidFill>
                  <a:srgbClr val="2F6296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advisory</a:t>
            </a:r>
            <a:endParaRPr lang="en-US" sz="800" dirty="0"/>
          </a:p>
        </p:txBody>
      </p:sp>
      <p:sp>
        <p:nvSpPr>
          <p:cNvPr id="30" name="Shape 28"/>
          <p:cNvSpPr/>
          <p:nvPr/>
        </p:nvSpPr>
        <p:spPr>
          <a:xfrm>
            <a:off x="9326880" y="2084832"/>
            <a:ext cx="502920" cy="0"/>
          </a:xfrm>
          <a:prstGeom prst="line">
            <a:avLst/>
          </a:prstGeom>
          <a:noFill/>
          <a:ln w="19050">
            <a:solidFill>
              <a:srgbClr val="B77514"/>
            </a:solidFill>
            <a:prstDash val="solid"/>
            <a:tailEnd type="triangle"/>
          </a:ln>
        </p:spPr>
      </p:sp>
      <p:sp>
        <p:nvSpPr>
          <p:cNvPr id="31" name="Shape 29"/>
          <p:cNvSpPr/>
          <p:nvPr/>
        </p:nvSpPr>
        <p:spPr>
          <a:xfrm>
            <a:off x="9829800" y="1572768"/>
            <a:ext cx="1828800" cy="1024128"/>
          </a:xfrm>
          <a:prstGeom prst="rect">
            <a:avLst/>
          </a:prstGeom>
          <a:solidFill>
            <a:srgbClr val="FFFFFF"/>
          </a:solidFill>
          <a:ln w="12700">
            <a:solidFill>
              <a:srgbClr val="E3DFD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9829800" y="1572768"/>
            <a:ext cx="1828800" cy="73152"/>
          </a:xfrm>
          <a:prstGeom prst="rect">
            <a:avLst/>
          </a:prstGeom>
          <a:solidFill>
            <a:srgbClr val="B77514"/>
          </a:solidFill>
          <a:ln/>
        </p:spPr>
      </p:sp>
      <p:sp>
        <p:nvSpPr>
          <p:cNvPr id="33" name="Text 31"/>
          <p:cNvSpPr/>
          <p:nvPr/>
        </p:nvSpPr>
        <p:spPr>
          <a:xfrm>
            <a:off x="9902952" y="1755648"/>
            <a:ext cx="16824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B77514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⑤ HUMAN APPROVAL</a:t>
            </a:r>
            <a:endParaRPr lang="en-US" sz="1150" dirty="0"/>
          </a:p>
        </p:txBody>
      </p:sp>
      <p:sp>
        <p:nvSpPr>
          <p:cNvPr id="34" name="Text 32"/>
          <p:cNvSpPr/>
          <p:nvPr/>
        </p:nvSpPr>
        <p:spPr>
          <a:xfrm>
            <a:off x="9902952" y="2176272"/>
            <a:ext cx="16824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6C748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logged sign-off</a:t>
            </a:r>
            <a:endParaRPr lang="en-US" sz="850" dirty="0"/>
          </a:p>
        </p:txBody>
      </p:sp>
      <p:sp>
        <p:nvSpPr>
          <p:cNvPr id="35" name="Text 33"/>
          <p:cNvSpPr/>
          <p:nvPr/>
        </p:nvSpPr>
        <p:spPr>
          <a:xfrm>
            <a:off x="9902952" y="2395728"/>
            <a:ext cx="16824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i="1" spc="100" kern="0" dirty="0">
                <a:solidFill>
                  <a:srgbClr val="B77514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human</a:t>
            </a:r>
            <a:endParaRPr lang="en-US" sz="800" dirty="0"/>
          </a:p>
        </p:txBody>
      </p:sp>
      <p:sp>
        <p:nvSpPr>
          <p:cNvPr id="36" name="Text 34"/>
          <p:cNvSpPr/>
          <p:nvPr/>
        </p:nvSpPr>
        <p:spPr>
          <a:xfrm>
            <a:off x="502920" y="2724912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6C748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AI (blue) only proposes and observes.  The green rail — validation + scoring — is deterministic and authoritative.  A human signs.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502920" y="3246120"/>
            <a:ext cx="7223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spc="50" kern="0" dirty="0">
                <a:solidFill>
                  <a:srgbClr val="B77514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THE GATE, LIVE — a hallucinated Brent 9000 and a made-up grade, rejected before scoring: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7909560" y="324612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spc="50" kern="0" dirty="0">
                <a:solidFill>
                  <a:srgbClr val="1E8E56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THE MODEL, LIVE ✦ — NVIDIA, on every update: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502920" y="3566160"/>
            <a:ext cx="7223760" cy="889412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8100000">
              <a:srgbClr val="7A7266">
                <a:alpha val="28000"/>
              </a:srgbClr>
            </a:outerShdw>
          </a:effectLst>
        </p:spPr>
      </p:sp>
      <p:pic>
        <p:nvPicPr>
          <p:cNvPr id="40" name="Image 0" descr="/private/tmp/claude-501/-Users-aman-Downloads-ET-Hackathon/ab60fbe1-6f03-48e5-aa7b-8b187ce1082a/scratchpad/deck-assets/ai_ga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3566160"/>
            <a:ext cx="7223760" cy="889412"/>
          </a:xfrm>
          <a:prstGeom prst="rect">
            <a:avLst/>
          </a:prstGeom>
        </p:spPr>
      </p:pic>
      <p:sp>
        <p:nvSpPr>
          <p:cNvPr id="41" name="Shape 38"/>
          <p:cNvSpPr/>
          <p:nvPr/>
        </p:nvSpPr>
        <p:spPr>
          <a:xfrm>
            <a:off x="502920" y="3566160"/>
            <a:ext cx="7223760" cy="889412"/>
          </a:xfrm>
          <a:prstGeom prst="rect">
            <a:avLst/>
          </a:prstGeom>
          <a:ln w="19050">
            <a:solidFill>
              <a:srgbClr val="1E8E56"/>
            </a:solidFill>
            <a:prstDash val="solid"/>
          </a:ln>
        </p:spPr>
      </p:sp>
      <p:sp>
        <p:nvSpPr>
          <p:cNvPr id="42" name="Shape 39"/>
          <p:cNvSpPr/>
          <p:nvPr/>
        </p:nvSpPr>
        <p:spPr>
          <a:xfrm>
            <a:off x="7909560" y="3566160"/>
            <a:ext cx="3749040" cy="1051391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8100000">
              <a:srgbClr val="7A7266">
                <a:alpha val="28000"/>
              </a:srgbClr>
            </a:outerShdw>
          </a:effectLst>
        </p:spPr>
      </p:sp>
      <p:pic>
        <p:nvPicPr>
          <p:cNvPr id="43" name="Image 1" descr="/private/tmp/claude-501/-Users-aman-Downloads-ET-Hackathon/ab60fbe1-6f03-48e5-aa7b-8b187ce1082a/scratchpad/deck-assets/live_car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09560" y="3566160"/>
            <a:ext cx="3749040" cy="1051391"/>
          </a:xfrm>
          <a:prstGeom prst="rect">
            <a:avLst/>
          </a:prstGeom>
        </p:spPr>
      </p:pic>
      <p:sp>
        <p:nvSpPr>
          <p:cNvPr id="44" name="Shape 40"/>
          <p:cNvSpPr/>
          <p:nvPr/>
        </p:nvSpPr>
        <p:spPr>
          <a:xfrm>
            <a:off x="7909560" y="3566160"/>
            <a:ext cx="3749040" cy="1051391"/>
          </a:xfrm>
          <a:prstGeom prst="rect">
            <a:avLst/>
          </a:prstGeom>
          <a:ln w="19050">
            <a:solidFill>
              <a:srgbClr val="1E8E56"/>
            </a:solidFill>
            <a:prstDash val="solid"/>
          </a:ln>
        </p:spPr>
      </p:sp>
      <p:sp>
        <p:nvSpPr>
          <p:cNvPr id="45" name="Text 41"/>
          <p:cNvSpPr/>
          <p:nvPr/>
        </p:nvSpPr>
        <p:spPr>
          <a:xfrm>
            <a:off x="7909560" y="4663271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i="1" dirty="0">
                <a:solidFill>
                  <a:srgbClr val="6C748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live Llama-3.3-70B rationale, recorded for replay — captured from the app</a:t>
            </a:r>
            <a:endParaRPr lang="en-US" sz="900" dirty="0"/>
          </a:p>
        </p:txBody>
      </p:sp>
      <p:sp>
        <p:nvSpPr>
          <p:cNvPr id="46" name="Shape 42"/>
          <p:cNvSpPr/>
          <p:nvPr/>
        </p:nvSpPr>
        <p:spPr>
          <a:xfrm>
            <a:off x="502920" y="4965023"/>
            <a:ext cx="11155680" cy="1170432"/>
          </a:xfrm>
          <a:prstGeom prst="rect">
            <a:avLst/>
          </a:prstGeom>
          <a:solidFill>
            <a:srgbClr val="FFFFFF"/>
          </a:solidFill>
          <a:ln w="12700">
            <a:solidFill>
              <a:srgbClr val="E3DFD6"/>
            </a:solidFill>
            <a:prstDash val="solid"/>
          </a:ln>
        </p:spPr>
      </p:sp>
      <p:sp>
        <p:nvSpPr>
          <p:cNvPr id="47" name="Shape 43"/>
          <p:cNvSpPr/>
          <p:nvPr/>
        </p:nvSpPr>
        <p:spPr>
          <a:xfrm>
            <a:off x="502920" y="4965023"/>
            <a:ext cx="64008" cy="1170432"/>
          </a:xfrm>
          <a:prstGeom prst="rect">
            <a:avLst/>
          </a:prstGeom>
          <a:solidFill>
            <a:srgbClr val="B77514"/>
          </a:solidFill>
          <a:ln/>
        </p:spPr>
      </p:sp>
      <p:sp>
        <p:nvSpPr>
          <p:cNvPr id="48" name="Text 44"/>
          <p:cNvSpPr/>
          <p:nvPr/>
        </p:nvSpPr>
        <p:spPr>
          <a:xfrm>
            <a:off x="777240" y="5093039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9A621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 live model makes the call. The record replays byte-identically. A human signs.</a:t>
            </a:r>
            <a:endParaRPr lang="en-US" sz="1500" dirty="0"/>
          </a:p>
        </p:txBody>
      </p:sp>
      <p:sp>
        <p:nvSpPr>
          <p:cNvPr id="49" name="Text 45"/>
          <p:cNvSpPr/>
          <p:nvPr/>
        </p:nvSpPr>
        <p:spPr>
          <a:xfrm>
            <a:off x="777240" y="5467943"/>
            <a:ext cx="106984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3282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The LLM runs LIVE on every decision-state change — NVIDIA Llama-3.3-70B through a key-holding Cloudflare Worker; the browser never sees a key. Every completion is RECORDED and replays byte-identically; the validation gate still drops anything fabricated before it can touch a score; scoring stays deterministic and offline-checkable.</a:t>
            </a:r>
            <a:endParaRPr lang="en-US" sz="1150" dirty="0"/>
          </a:p>
        </p:txBody>
      </p:sp>
      <p:sp>
        <p:nvSpPr>
          <p:cNvPr id="50" name="Text 46"/>
          <p:cNvSpPr/>
          <p:nvPr/>
        </p:nvSpPr>
        <p:spPr>
          <a:xfrm>
            <a:off x="502920" y="6492240"/>
            <a:ext cx="9509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i="1" dirty="0">
                <a:solidFill>
                  <a:srgbClr val="6C748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AI for sense-making and auditing · deterministic logic for scoring · humans for approval. Try it live: AI ASSIST ✦ → “⚠ Hallucination test.”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6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19556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spc="100" kern="0" dirty="0">
                <a:solidFill>
                  <a:srgbClr val="6C74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△ TRINETRA</a:t>
            </a:r>
            <a:endParaRPr lang="en-US" sz="900" dirty="0"/>
          </a:p>
        </p:txBody>
      </p:sp>
      <p:sp>
        <p:nvSpPr>
          <p:cNvPr id="3" name="Shape 1"/>
          <p:cNvSpPr/>
          <p:nvPr/>
        </p:nvSpPr>
        <p:spPr>
          <a:xfrm>
            <a:off x="521208" y="484632"/>
            <a:ext cx="146304" cy="256032"/>
          </a:xfrm>
          <a:prstGeom prst="rect">
            <a:avLst/>
          </a:prstGeom>
          <a:solidFill>
            <a:srgbClr val="B77514"/>
          </a:solidFill>
          <a:ln/>
        </p:spPr>
      </p:sp>
      <p:sp>
        <p:nvSpPr>
          <p:cNvPr id="4" name="Text 2"/>
          <p:cNvSpPr/>
          <p:nvPr/>
        </p:nvSpPr>
        <p:spPr>
          <a:xfrm>
            <a:off x="777240" y="457200"/>
            <a:ext cx="10881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B775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SCALE IS CONFIG, NOT CODE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02920" y="841248"/>
            <a:ext cx="11155680" cy="12802"/>
          </a:xfrm>
          <a:prstGeom prst="rect">
            <a:avLst/>
          </a:prstGeom>
          <a:solidFill>
            <a:srgbClr val="E3DFD6"/>
          </a:solidFill>
          <a:ln/>
        </p:spPr>
      </p:sp>
      <p:sp>
        <p:nvSpPr>
          <p:cNvPr id="6" name="Text 4"/>
          <p:cNvSpPr/>
          <p:nvPr/>
        </p:nvSpPr>
        <p:spPr>
          <a:xfrm>
            <a:off x="502920" y="914400"/>
            <a:ext cx="11155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23282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One strait this week. Every chokepoint, every commodity, next.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502920" y="1554480"/>
            <a:ext cx="6949440" cy="43434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8100000">
              <a:srgbClr val="7A7266">
                <a:alpha val="28000"/>
              </a:srgbClr>
            </a:outerShdw>
          </a:effectLst>
        </p:spPr>
      </p:sp>
      <p:pic>
        <p:nvPicPr>
          <p:cNvPr id="8" name="Image 0" descr="/private/tmp/claude-501/-Users-aman-Downloads-ET-Hackathon/ab60fbe1-6f03-48e5-aa7b-8b187ce1082a/scratchpad/deck-assets/ma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554480"/>
            <a:ext cx="6949440" cy="434340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502920" y="1554480"/>
            <a:ext cx="6949440" cy="4343400"/>
          </a:xfrm>
          <a:prstGeom prst="rect">
            <a:avLst/>
          </a:prstGeom>
          <a:ln w="12700">
            <a:solidFill>
              <a:srgbClr val="E3DFD6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680960" y="1572768"/>
            <a:ext cx="3977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23282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The engine is graph-agnostic. A new theatre — a new chokepoint, a new commodity — is a new data bundle, not new code.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7680960" y="2743200"/>
            <a:ext cx="3977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spc="100" kern="0" dirty="0">
                <a:solidFill>
                  <a:srgbClr val="B77514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THE BUYER LADDER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7680960" y="3063240"/>
            <a:ext cx="397764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3DFD6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7818120" y="306324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9A621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01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8412480" y="3063240"/>
            <a:ext cx="3154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23282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Refiner trading desk</a:t>
            </a:r>
            <a:endParaRPr lang="en-US" sz="1300" dirty="0"/>
          </a:p>
        </p:txBody>
      </p:sp>
      <p:sp>
        <p:nvSpPr>
          <p:cNvPr id="15" name="Shape 12"/>
          <p:cNvSpPr/>
          <p:nvPr/>
        </p:nvSpPr>
        <p:spPr>
          <a:xfrm>
            <a:off x="7680960" y="3630168"/>
            <a:ext cx="397764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3DFD6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7818120" y="3630168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9A621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02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8412480" y="3630168"/>
            <a:ext cx="3154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23282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National oil company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7680960" y="4197096"/>
            <a:ext cx="397764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3DFD6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7818120" y="4197096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9A621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03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8412480" y="4197096"/>
            <a:ext cx="3154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23282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Ministry crisis cell</a:t>
            </a:r>
            <a:endParaRPr lang="en-US" sz="1300" dirty="0"/>
          </a:p>
        </p:txBody>
      </p:sp>
      <p:sp>
        <p:nvSpPr>
          <p:cNvPr id="21" name="Text 18"/>
          <p:cNvSpPr/>
          <p:nvPr/>
        </p:nvSpPr>
        <p:spPr>
          <a:xfrm>
            <a:off x="7680960" y="4892040"/>
            <a:ext cx="3977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050" i="1" dirty="0">
                <a:solidFill>
                  <a:srgbClr val="6C748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Honest footer: live feeds (Kpler / Spire) are stubs behind the same 3-method FeedAdapter interface as the replay (src/engine/feeds.ts) — “production license.”</a:t>
            </a:r>
            <a:endParaRPr lang="en-US" sz="1050" dirty="0"/>
          </a:p>
        </p:txBody>
      </p:sp>
      <p:sp>
        <p:nvSpPr>
          <p:cNvPr id="22" name="Text 19"/>
          <p:cNvSpPr/>
          <p:nvPr/>
        </p:nvSpPr>
        <p:spPr>
          <a:xfrm>
            <a:off x="502920" y="6492240"/>
            <a:ext cx="9509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i="1" dirty="0">
                <a:solidFill>
                  <a:srgbClr val="6C748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Same pure engine, proven deterministic on an arbitrary graph in scripts/check.mjs. They show the disruption; we show the signed, auditable decision.</a:t>
            </a:r>
            <a:endParaRPr lang="en-US" sz="8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6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19556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spc="100" kern="0" dirty="0">
                <a:solidFill>
                  <a:srgbClr val="6C74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△ TRINETRA</a:t>
            </a:r>
            <a:endParaRPr lang="en-US" sz="900" dirty="0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61520" cy="109728"/>
          </a:xfrm>
          <a:prstGeom prst="rect">
            <a:avLst/>
          </a:prstGeom>
          <a:solidFill>
            <a:srgbClr val="B77514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600200"/>
            <a:ext cx="6949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23282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Six days to four minutes.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640080" y="2450592"/>
            <a:ext cx="7040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9A621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And the argument is on the record.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658368" y="3337560"/>
            <a:ext cx="6858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500" dirty="0">
                <a:solidFill>
                  <a:srgbClr val="6C748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An AI that argues under rules you wrote. A machine — not a model — that enforces them. A decision you can audit.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7955280" y="1737360"/>
            <a:ext cx="3657600" cy="2344783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8100000">
              <a:srgbClr val="7A7266">
                <a:alpha val="28000"/>
              </a:srgbClr>
            </a:outerShdw>
          </a:effectLst>
        </p:spPr>
      </p:sp>
      <p:pic>
        <p:nvPicPr>
          <p:cNvPr id="8" name="Image 0" descr="/private/tmp/claude-501/-Users-aman-Downloads-ET-Hackathon/ab60fbe1-6f03-48e5-aa7b-8b187ce1082a/scratchpad/deck-assets/charter_aft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55280" y="1737360"/>
            <a:ext cx="3657600" cy="2344783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7955280" y="1737360"/>
            <a:ext cx="3657600" cy="2344783"/>
          </a:xfrm>
          <a:prstGeom prst="rect">
            <a:avLst/>
          </a:prstGeom>
          <a:ln w="12700">
            <a:solidFill>
              <a:srgbClr val="E3DFD6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955280" y="4155295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6C748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the signed audit trace — hash-chained, VERIFIED, one-click printable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640080" y="4572000"/>
            <a:ext cx="704088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3DFD6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68680" y="4572000"/>
            <a:ext cx="6583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6C748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DEMO + REPO   </a:t>
            </a:r>
            <a:pPr algn="l" indent="0" marL="0">
              <a:buNone/>
            </a:pPr>
            <a:r>
              <a:rPr lang="en-US" sz="1500" b="1" dirty="0">
                <a:solidFill>
                  <a:srgbClr val="2F6296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github.com/banthia14aman/ET-Hackathon</a:t>
            </a:r>
            <a:endParaRPr lang="en-US" sz="1500" dirty="0"/>
          </a:p>
        </p:txBody>
      </p:sp>
      <p:sp>
        <p:nvSpPr>
          <p:cNvPr id="13" name="Text 10"/>
          <p:cNvSpPr/>
          <p:nvPr/>
        </p:nvSpPr>
        <p:spPr>
          <a:xfrm>
            <a:off x="640080" y="585216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spc="300" kern="0" dirty="0">
                <a:solidFill>
                  <a:srgbClr val="B77514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TRIN△ETRA</a:t>
            </a:r>
            <a:endParaRPr lang="en-US" sz="2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6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19556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spc="100" kern="0" dirty="0">
                <a:solidFill>
                  <a:srgbClr val="6C74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△ TRINETRA</a:t>
            </a:r>
            <a:endParaRPr lang="en-US" sz="900" dirty="0"/>
          </a:p>
        </p:txBody>
      </p:sp>
      <p:sp>
        <p:nvSpPr>
          <p:cNvPr id="3" name="Shape 1"/>
          <p:cNvSpPr/>
          <p:nvPr/>
        </p:nvSpPr>
        <p:spPr>
          <a:xfrm>
            <a:off x="521208" y="484632"/>
            <a:ext cx="146304" cy="256032"/>
          </a:xfrm>
          <a:prstGeom prst="rect">
            <a:avLst/>
          </a:prstGeom>
          <a:solidFill>
            <a:srgbClr val="B77514"/>
          </a:solidFill>
          <a:ln/>
        </p:spPr>
      </p:sp>
      <p:sp>
        <p:nvSpPr>
          <p:cNvPr id="4" name="Text 2"/>
          <p:cNvSpPr/>
          <p:nvPr/>
        </p:nvSpPr>
        <p:spPr>
          <a:xfrm>
            <a:off x="777240" y="457200"/>
            <a:ext cx="10881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B775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APPENDIX — THE HINDSIGHT-BIAS FIREWALL (Q&amp;A)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02920" y="841248"/>
            <a:ext cx="11155680" cy="12802"/>
          </a:xfrm>
          <a:prstGeom prst="rect">
            <a:avLst/>
          </a:prstGeom>
          <a:solidFill>
            <a:srgbClr val="E3DFD6"/>
          </a:solidFill>
          <a:ln/>
        </p:spPr>
      </p:sp>
      <p:sp>
        <p:nvSpPr>
          <p:cNvPr id="6" name="Text 4"/>
          <p:cNvSpPr/>
          <p:nvPr/>
        </p:nvSpPr>
        <p:spPr>
          <a:xfrm>
            <a:off x="502920" y="914400"/>
            <a:ext cx="11155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23282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“Did you already know the answer?”  We built the firewall for that.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502920" y="1572768"/>
            <a:ext cx="11155680" cy="1060704"/>
          </a:xfrm>
          <a:prstGeom prst="rect">
            <a:avLst/>
          </a:prstGeom>
          <a:solidFill>
            <a:srgbClr val="FFFFFF"/>
          </a:solidFill>
          <a:ln w="12700">
            <a:solidFill>
              <a:srgbClr val="E3DFD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02920" y="1572768"/>
            <a:ext cx="64008" cy="1060704"/>
          </a:xfrm>
          <a:prstGeom prst="rect">
            <a:avLst/>
          </a:prstGeom>
          <a:solidFill>
            <a:srgbClr val="B77514"/>
          </a:solidFill>
          <a:ln/>
        </p:spPr>
      </p:sp>
      <p:sp>
        <p:nvSpPr>
          <p:cNvPr id="9" name="Text 7"/>
          <p:cNvSpPr/>
          <p:nvPr/>
        </p:nvSpPr>
        <p:spPr>
          <a:xfrm>
            <a:off x="731520" y="1682496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9A621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FROZEN KB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3566160" y="1682496"/>
            <a:ext cx="7955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23282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Structural knowledge cites only pre-2019 sources. The system doesn't “know about Angola” — it emerges from a query. Basrah Medium (a 2021 grade) was removed from the dataset entirely.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502920" y="2724912"/>
            <a:ext cx="11155680" cy="1060704"/>
          </a:xfrm>
          <a:prstGeom prst="rect">
            <a:avLst/>
          </a:prstGeom>
          <a:solidFill>
            <a:srgbClr val="FFFFFF"/>
          </a:solidFill>
          <a:ln w="12700">
            <a:solidFill>
              <a:srgbClr val="E3DFD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02920" y="2724912"/>
            <a:ext cx="64008" cy="1060704"/>
          </a:xfrm>
          <a:prstGeom prst="rect">
            <a:avLst/>
          </a:prstGeom>
          <a:solidFill>
            <a:srgbClr val="B77514"/>
          </a:solidFill>
          <a:ln/>
        </p:spPr>
      </p:sp>
      <p:sp>
        <p:nvSpPr>
          <p:cNvPr id="13" name="Text 11"/>
          <p:cNvSpPr/>
          <p:nvPr/>
        </p:nvSpPr>
        <p:spPr>
          <a:xfrm>
            <a:off x="731520" y="2834640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9A621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STATED CALIBRATION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3566160" y="2834640"/>
            <a:ext cx="7955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23282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Every calibration constant is a stated, sensitivity-swept assumption anchored to earlier crises (Abqaiq 2019, Suez 2021, Red Sea 2023-24) — never fit to the Hormuz-2026 outcomes the demo replays.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02920" y="3877056"/>
            <a:ext cx="11155680" cy="1060704"/>
          </a:xfrm>
          <a:prstGeom prst="rect">
            <a:avLst/>
          </a:prstGeom>
          <a:solidFill>
            <a:srgbClr val="FFFFFF"/>
          </a:solidFill>
          <a:ln w="12700">
            <a:solidFill>
              <a:srgbClr val="E3DF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02920" y="3877056"/>
            <a:ext cx="64008" cy="1060704"/>
          </a:xfrm>
          <a:prstGeom prst="rect">
            <a:avLst/>
          </a:prstGeom>
          <a:solidFill>
            <a:srgbClr val="B77514"/>
          </a:solidFill>
          <a:ln/>
        </p:spPr>
      </p:sp>
      <p:sp>
        <p:nvSpPr>
          <p:cNvPr id="17" name="Text 15"/>
          <p:cNvSpPr/>
          <p:nvPr/>
        </p:nvSpPr>
        <p:spPr>
          <a:xfrm>
            <a:off x="731520" y="3986784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9A621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NO OUTCOME CLAIMS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3566160" y="3986784"/>
            <a:ext cx="7955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23282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We don't predict outcomes (nobody predicts a 30-day US waiver — that's an explicit branch). The testable claim: the options India chose were in our top five, surfaced weeks earlier.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502920" y="5029200"/>
            <a:ext cx="11155680" cy="1060704"/>
          </a:xfrm>
          <a:prstGeom prst="rect">
            <a:avLst/>
          </a:prstGeom>
          <a:solidFill>
            <a:srgbClr val="FFFFFF"/>
          </a:solidFill>
          <a:ln w="12700">
            <a:solidFill>
              <a:srgbClr val="E3DF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02920" y="5029200"/>
            <a:ext cx="64008" cy="1060704"/>
          </a:xfrm>
          <a:prstGeom prst="rect">
            <a:avLst/>
          </a:prstGeom>
          <a:solidFill>
            <a:srgbClr val="B77514"/>
          </a:solidFill>
          <a:ln/>
        </p:spPr>
      </p:sp>
      <p:sp>
        <p:nvSpPr>
          <p:cNvPr id="21" name="Text 19"/>
          <p:cNvSpPr/>
          <p:nvPr/>
        </p:nvSpPr>
        <p:spPr>
          <a:xfrm>
            <a:off x="731520" y="5138928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9A621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MISSES SHOWN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566160" y="5138928"/>
            <a:ext cx="7955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23282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It didn't score perfectly — the misses are on the scorecard, in red. Replayed real feeds, time-compressed; no live-feed claims. Scenario-choreography events are labeled SYNTH, never upgraded.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502920" y="6492240"/>
            <a:ext cx="9509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i="1" dirty="0">
                <a:solidFill>
                  <a:srgbClr val="6C748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May claim: replayed real feeds, frozen KB, stated+swept calibration, top-5 recall with misses shown. May never claim: live feeds, outcome prediction, or R for a synthetic number.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TRINETRA — governed crude-supply decisions</dc:title>
  <dc:subject>PptxGenJS Presentation</dc:subject>
  <dc:creator>TRINETRA</dc:creator>
  <cp:lastModifiedBy>TRINETRA</cp:lastModifiedBy>
  <cp:revision>1</cp:revision>
  <dcterms:created xsi:type="dcterms:W3CDTF">2026-07-22T15:25:11Z</dcterms:created>
  <dcterms:modified xsi:type="dcterms:W3CDTF">2026-07-22T15:25:11Z</dcterms:modified>
</cp:coreProperties>
</file>