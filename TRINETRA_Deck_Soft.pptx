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spc="400" kern="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TRIN</a:t>
            </a:r>
            <a:pPr algn="l" indent="0" marL="0">
              <a:buNone/>
            </a:pPr>
            <a:r>
              <a:rPr lang="en-US" sz="6600" b="1" spc="4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△</a:t>
            </a:r>
            <a:pPr algn="l" indent="0" marL="0">
              <a:buNone/>
            </a:pPr>
            <a:r>
              <a:rPr lang="en-US" sz="6600" b="1" spc="400" kern="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ETRA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58368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that argues — under rules you wrote.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99923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for sense-making and constitutional auditing · deterministic logic for scoring · humans for final approval. A live model makes the call; the record replays byte-identically.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32520" y="1005840"/>
            <a:ext cx="2926080" cy="315468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12344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4:07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873252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TRINETRA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325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32520" y="30723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trike="sngStrike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DAYS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73252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INDIA · MARCH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566160" cy="9144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892040"/>
            <a:ext cx="54864" cy="9144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suggests moves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4892040"/>
            <a:ext cx="3566160" cy="9144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4892040"/>
            <a:ext cx="54864" cy="9144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ENFORCE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0" y="5440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machine—not a model—checks the rules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4892040"/>
            <a:ext cx="3566160" cy="9144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4892040"/>
            <a:ext cx="54864" cy="9144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RECORD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21040" y="5440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step hash-chained, offline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 AI Hackathon 2026  ·  live NVIDIA LLM at the edges  ·  deterministic, byte-identical replay  ·  zero-LLM critic  ·  live on-screen decision clock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COST OF A DELIBERATION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March 2026, India needed six days to answer one question.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data problem — a deliberation problem. The buffer isn't barrels; it's decision speed.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532120" cy="93268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11680"/>
            <a:ext cx="64008" cy="93268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$100M+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₹850+ cr — cost of the six-day decision lag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139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price path R · spot share 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035808"/>
            <a:ext cx="5532120" cy="93268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035808"/>
            <a:ext cx="64008" cy="93268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$270M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731520" y="36027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SPR day burned at the peak, refilled later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163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arithmetic R · attribution 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059936"/>
            <a:ext cx="5532120" cy="93268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059936"/>
            <a:ext cx="64008" cy="93268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33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$30–45M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731520" y="46268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VLCC bought in panic instead of on 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4187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 — from the tape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510235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inputs (R): imports ~4.9 mb/d (PPAC); Brent $71→$77→$100+→$126 (EIA). The app computes this live and stamps it “order-of-magnitude.”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011680"/>
            <a:ext cx="5349240" cy="141732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011680"/>
            <a:ext cx="64008" cy="14173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157984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“My comfort point used to be 60-60-60 — 60 days of crude, gas and LPG.”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Hardeep Singh Puri, Union Minister for Petroleum &amp; Natural Gas, 2026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018520" y="3108960"/>
            <a:ext cx="457200" cy="256032"/>
          </a:xfrm>
          <a:prstGeom prst="rect">
            <a:avLst/>
          </a:prstGeom>
          <a:solidFill>
            <a:srgbClr val="4FBF87"/>
          </a:solidFill>
          <a:ln/>
        </p:spPr>
      </p:sp>
      <p:sp>
        <p:nvSpPr>
          <p:cNvPr id="28" name="Text 26"/>
          <p:cNvSpPr/>
          <p:nvPr/>
        </p:nvSpPr>
        <p:spPr>
          <a:xfrm>
            <a:off x="11018520" y="3108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3584448"/>
            <a:ext cx="5349240" cy="169164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COSTS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40050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$150K</a:t>
            </a:r>
            <a:pPr algn="l" indent="0" marL="0">
              <a:buNone/>
            </a:pPr>
            <a:r>
              <a:rPr lang="en-US" sz="14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/ desk / year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Breakeven </a:t>
            </a:r>
            <a:pPr algn="l" indent="0" marL="0">
              <a:buNone/>
            </a:pPr>
            <a:r>
              <a:rPr lang="en-US" sz="12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$0.0003/bbl</a:t>
            </a:r>
            <a:pPr algn="l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ROI </a:t>
            </a:r>
            <a:pPr algn="l" indent="0" marL="0">
              <a:buNone/>
            </a:pPr>
            <a:r>
              <a:rPr lang="en-US" sz="12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~200×</a:t>
            </a:r>
            <a:pPr algn="l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vs one $30M cargo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49194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ask: </a:t>
            </a:r>
            <a:pPr algn="l" indent="0" marL="0">
              <a:buNone/>
            </a:pPr>
            <a:r>
              <a:rPr lang="en-US" sz="12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design-partner desk — not a cheque.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1755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Targets: IOC Intl Trade Directorate · RIL Jamnagar crude desk · BPCL risk cell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COMPUTED LIVE 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275320" y="5431536"/>
            <a:ext cx="3383280" cy="310272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37" name="Image 0" descr="/private/tmp/claude-501/-Users-aman-Downloads-ET-Hackathon/ab60fbe1-6f03-48e5-aa7b-8b187ce1082a/scratchpad/deck-assets/cost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5431536"/>
            <a:ext cx="3383280" cy="31027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PPAC / EIA / EY; Puri via PIB PRID 2239021. $-figures self-labeled SOLID/DIRECTIONAL; the 6-day lag is a reported estimate.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 →  DEBATE  → 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crisis room that convenes itself — and argues under your rules.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71700" y="1554480"/>
            <a:ext cx="7818120" cy="4886325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private/tmp/claude-501/-Users-aman-Downloads-ET-Hackathon/ab60fbe1-6f03-48e5-aa7b-8b187ce1082a/scratchpad/deck-assets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155448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71700" y="1554480"/>
            <a:ext cx="7818120" cy="4886325"/>
          </a:xfrm>
          <a:prstGeom prst="rect">
            <a:avLst/>
          </a:prstGeom>
          <a:ln w="19050">
            <a:solidFill>
              <a:srgbClr val="3A45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screen, one engine: signals → exposure-graph re-score → machine-generated option cards → charter debate → hash-chained audit. Live LLM at the edges; deterministic core runs offline.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CRITIC — ZERO LLM, CANNOT HALLUCINATE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demoted Venezuela's Merey. It didn't have an opinion — it ran the rules.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6126480" cy="1161418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private/tmp/claude-501/-Users-aman-Downloads-ET-Hackathon/ab60fbe1-6f03-48e5-aa7b-8b187ce1082a/scratchpad/deck-assets/merey_obj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6126480" cy="11614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1572768"/>
            <a:ext cx="6126480" cy="1161418"/>
          </a:xfrm>
          <a:prstGeom prst="rect">
            <a:avLst/>
          </a:prstGeom>
          <a:ln w="12700">
            <a:solidFill>
              <a:srgbClr val="3A45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862202"/>
            <a:ext cx="6126480" cy="1393702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1" name="Image 1" descr="/private/tmp/claude-501/-Users-aman-Downloads-ET-Hackathon/ab60fbe1-6f03-48e5-aa7b-8b187ce1082a/scratchpad/deck-assets/merey_obj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2202"/>
            <a:ext cx="6126480" cy="13937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2862202"/>
            <a:ext cx="6126480" cy="1393702"/>
          </a:xfrm>
          <a:prstGeom prst="rect">
            <a:avLst/>
          </a:prstGeom>
          <a:ln w="12700">
            <a:solidFill>
              <a:srgbClr val="3A455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4383920"/>
            <a:ext cx="6126480" cy="1408219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2" descr="/private/tmp/claude-501/-Users-aman-Downloads-ET-Hackathon/ab60fbe1-6f03-48e5-aa7b-8b187ce1082a/scratchpad/deck-assets/merey_obj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83920"/>
            <a:ext cx="6126480" cy="140821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" y="4383920"/>
            <a:ext cx="6126480" cy="1408219"/>
          </a:xfrm>
          <a:prstGeom prst="rect">
            <a:avLst/>
          </a:prstGeom>
          <a:ln w="12700">
            <a:solidFill>
              <a:srgbClr val="3A455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858000" y="1645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cited objections, computed by pure functions: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858000" y="21488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A2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43-day voyage vs a 12.2-day cover buffer.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A4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OFAC payment rail AMBER (snapshot 2026-03-01).</a:t>
            </a:r>
            <a:endParaRPr lang="en-US" sz="1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A5  </a:t>
            </a:r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 heavy to run neat — API 16 &lt; Jamnagar's min 18.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0" y="3977640"/>
            <a:ext cx="4800600" cy="822960"/>
          </a:xfrm>
          <a:prstGeom prst="rect">
            <a:avLst/>
          </a:prstGeom>
          <a:solidFill>
            <a:srgbClr val="232B37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040880" y="41148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VERDICT  </a:t>
            </a:r>
            <a:pPr algn="l" indent="0" marL="0">
              <a:buNone/>
            </a:pPr>
            <a:r>
              <a:rPr lang="en-US" sz="13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CONDITIONAL</a:t>
            </a:r>
            <a:pPr algn="l"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(3 flags, 0 blocks)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040880" y="4407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objection cites its Article + evidence. No model can add, soften, or remove one.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85800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“It ran the sanctions list, the assay table, and the calendar. The language model just wrote the memo.”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capture from the app at 2026-03-15. Merey real assay: API 16 / S 2.45 / TAN 0.69 (E). The critic contains zero LLM — objections are computed facts.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REPLAYED REAL CRISES  ·  NOTHING FABRICATED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replayed real crises — and every number shows how certain it is.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BACKTEST — real feeds, time-compressed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5486400" cy="9144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47088"/>
            <a:ext cx="64008" cy="914400"/>
          </a:xfrm>
          <a:prstGeom prst="rect">
            <a:avLst/>
          </a:prstGeom>
          <a:solidFill>
            <a:srgbClr val="4FBF8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 Sea / Houthi 2023-24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956816"/>
            <a:ext cx="457200" cy="256032"/>
          </a:xfrm>
          <a:prstGeom prst="rect">
            <a:avLst/>
          </a:prstGeom>
          <a:solidFill>
            <a:srgbClr val="4FBF87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956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8.7 → 4.0 mb/d   ·   Brent +14%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487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time: +26 d early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71216"/>
            <a:ext cx="5486400" cy="9144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871216"/>
            <a:ext cx="64008" cy="914400"/>
          </a:xfrm>
          <a:prstGeom prst="rect">
            <a:avLst/>
          </a:prstGeom>
          <a:solidFill>
            <a:srgbClr val="4FBF8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9626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Hormuz 2026 (live replay)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2980944"/>
            <a:ext cx="457200" cy="256032"/>
          </a:xfrm>
          <a:prstGeom prst="rect">
            <a:avLst/>
          </a:prstGeom>
          <a:solidFill>
            <a:srgbClr val="4FBF87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29809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3273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~150 tankers anchored   ·   Brent &gt;50%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35112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lead time: +4 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941064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“India's desks validated it: non-Hormuz sourcing rose 55% → 70%; suppliers widened 27 → 41 countries.”  We didn't ask an expert — we let the market grade it.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5361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CARD CARRIES A PROVENANCE CHIP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847088"/>
            <a:ext cx="5394960" cy="3458555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25" name="Image 0" descr="/private/tmp/claude-501/-Users-aman-Downloads-ET-Hackathon/ab60fbe1-6f03-48e5-aa7b-8b187ce1082a/scratchpad/deck-assets/plan_condit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47088"/>
            <a:ext cx="5394960" cy="3458555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263640" y="1847088"/>
            <a:ext cx="5394960" cy="3458555"/>
          </a:xfrm>
          <a:prstGeom prst="rect">
            <a:avLst/>
          </a:prstGeom>
          <a:ln w="12700">
            <a:solidFill>
              <a:srgbClr val="3A455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5360507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</a:t>
            </a:r>
            <a:pPr algn="l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 real   </a:t>
            </a:r>
            <a:pPr algn="l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CACHED </a:t>
            </a:r>
            <a:pPr algn="l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 estimated   </a:t>
            </a:r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 </a:t>
            </a:r>
            <a:pPr algn="l" indent="0" marL="0">
              <a:buNone/>
            </a:pPr>
            <a:r>
              <a:rPr lang="en-US" sz="11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 synthetic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63640" y="5689691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LLM runs LIVE (NVIDIA, via a key-holding edge worker) and every completion is recorded for replay; airplane mode falls back to the build-time cache. Per-refinery inventories are modeled (S), and we say so.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honest claim isn't “everything is real” — it's “nothing is fabricated, and every number shows exactly how certain it is.”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ONE RULE  →  THE PLAN RE-DECIDES ITSELF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Raise the security floor 10 → 15. Long-haul cargoes fail — each cites the rule.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FLOOR 10 — CONDITIONAL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303520" cy="1005407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9" name="Image 0" descr="/private/tmp/claude-501/-Users-aman-Downloads-ET-Hackathon/ab60fbe1-6f03-48e5-aa7b-8b187ce1082a/scratchpad/deck-assets/merey_obj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5303520" cy="10054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874520"/>
            <a:ext cx="5303520" cy="1005407"/>
          </a:xfrm>
          <a:prstGeom prst="rect">
            <a:avLst/>
          </a:prstGeom>
          <a:ln w="19050">
            <a:solidFill>
              <a:srgbClr val="D9A4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9659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355080" y="1572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06A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FLOOR 15 — REJECTED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5080" y="1874520"/>
            <a:ext cx="5303520" cy="1005407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1" descr="/private/tmp/claude-501/-Users-aman-Downloads-ET-Hackathon/ab60fbe1-6f03-48e5-aa7b-8b187ce1082a/scratchpad/deck-assets/merey_b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20"/>
            <a:ext cx="5303520" cy="100540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55080" y="1874520"/>
            <a:ext cx="5303520" cy="1005407"/>
          </a:xfrm>
          <a:prstGeom prst="rect">
            <a:avLst/>
          </a:prstGeom>
          <a:ln w="19050">
            <a:solidFill>
              <a:srgbClr val="E06A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2989655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fact — 43-day voyage vs 12.2-day cover. The flag escalates to a block; the arbiter rejects it. Six Jamnagar-bound cargoes fall the same way.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3428567"/>
            <a:ext cx="3977640" cy="2549951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8" name="Image 2" descr="/private/tmp/claude-501/-Users-aman-Downloads-ET-Hackathon/ab60fbe1-6f03-48e5-aa7b-8b187ce1082a/scratchpad/deck-assets/charter_af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28567"/>
            <a:ext cx="3977640" cy="254995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02920" y="3428567"/>
            <a:ext cx="3977640" cy="2549951"/>
          </a:xfrm>
          <a:prstGeom prst="rect">
            <a:avLst/>
          </a:prstGeom>
          <a:ln w="12700">
            <a:solidFill>
              <a:srgbClr val="3A455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54880" y="3483431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IT'S ON THE RECORD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54880" y="3867479"/>
            <a:ext cx="6903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verdict is hash-chained (seq · actor · input→output · prev) and re-runs byte-identically, offline. Revert to 10 and the earlier state's hashes reproduce exactly — no clock, no randomness on the derivation path. One click prints the trace on white: the signed prop.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54880" y="552131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“Run it again — byte-identical. Try that with a prompt.”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Date.now / Math.random on any derivation path — sim time only. The signed audit trace is the artifact a fine-tuned forecaster cannot produce.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CORE  ·  LLM ONLY AT THE EDGES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Boring, inspectable, event-driven.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417320" cy="86868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2400300"/>
            <a:ext cx="20574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25980" y="1965960"/>
            <a:ext cx="1417320" cy="86868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598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RESCORE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2598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43300" y="2400300"/>
            <a:ext cx="20574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1965960"/>
            <a:ext cx="1417320" cy="86868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2400300"/>
            <a:ext cx="20574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72100" y="1965960"/>
            <a:ext cx="1417320" cy="86868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210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7210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LLM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9420" y="2400300"/>
            <a:ext cx="20574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95160" y="1965960"/>
            <a:ext cx="1417320" cy="868680"/>
          </a:xfrm>
          <a:prstGeom prst="rect">
            <a:avLst/>
          </a:prstGeom>
          <a:solidFill>
            <a:srgbClr val="232B37"/>
          </a:solidFill>
          <a:ln w="25400">
            <a:solidFill>
              <a:srgbClr val="4FBF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9516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 LLM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12480" y="2400300"/>
            <a:ext cx="20574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18220" y="1965960"/>
            <a:ext cx="1417320" cy="86868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1822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ARBITER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1822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035540" y="2400300"/>
            <a:ext cx="20574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241280" y="1965960"/>
            <a:ext cx="1417320" cy="86868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41280" y="2459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hash chain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29992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solid = deterministic   ·   proposer prose is LIVE (NVIDIA via a key-holding edge worker), recorded for replay; cache is the airplane-mode fallback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36118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RIGHT TOOL PER LAYER — chosen by what each layer is allowed to get wrong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3977640"/>
            <a:ext cx="11155680" cy="65836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977640"/>
            <a:ext cx="64008" cy="658368"/>
          </a:xfrm>
          <a:prstGeom prst="rect">
            <a:avLst/>
          </a:prstGeom>
          <a:solidFill>
            <a:srgbClr val="4FBF87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977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200400" y="39776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veto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760720" y="39776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must be citable &amp; cannot hallucinate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4727448"/>
            <a:ext cx="11155680" cy="65836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727448"/>
            <a:ext cx="64008" cy="658368"/>
          </a:xfrm>
          <a:prstGeom prst="rect">
            <a:avLst/>
          </a:prstGeom>
          <a:solidFill>
            <a:srgbClr val="ECC069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7274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MODEL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200400" y="47274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number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760720" y="472744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softmax, frozen weights — byte-identical every run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5477256"/>
            <a:ext cx="11155680" cy="65836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5477256"/>
            <a:ext cx="64008" cy="658368"/>
          </a:xfrm>
          <a:prstGeom prst="rect">
            <a:avLst/>
          </a:prstGeom>
          <a:solidFill>
            <a:srgbClr val="6BA0D8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547725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LLM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200400" y="54772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sentence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760720" y="547725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at the edges, recorded for replay — only prose may vary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“One big LLM” would hallucinate the compliance check, vary the number every run, and be un-replayable — breaking the audit trail that is the moat.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FOR SENSE-MAKING  ·  RULES FOR SCORING  ·  HUMANS FOR APPROVAL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 it reads messy operator text — and the gate throws out whatever it makes up.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828800" cy="102412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1828800" cy="73152"/>
          </a:xfrm>
          <a:prstGeom prst="rect">
            <a:avLst/>
          </a:prstGeom>
          <a:solidFill>
            <a:srgbClr val="6BA0D8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① AI SENSE-MAKING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free 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advisory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2084832"/>
            <a:ext cx="50292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1572768"/>
            <a:ext cx="1828800" cy="1024128"/>
          </a:xfrm>
          <a:prstGeom prst="rect">
            <a:avLst/>
          </a:prstGeom>
          <a:solidFill>
            <a:srgbClr val="232B37"/>
          </a:solidFill>
          <a:ln w="25400">
            <a:solidFill>
              <a:srgbClr val="4FBF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572768"/>
            <a:ext cx="1828800" cy="73152"/>
          </a:xfrm>
          <a:prstGeom prst="rect">
            <a:avLst/>
          </a:prstGeom>
          <a:solidFill>
            <a:srgbClr val="4FBF87"/>
          </a:solidFill>
          <a:ln/>
        </p:spPr>
      </p:sp>
      <p:sp>
        <p:nvSpPr>
          <p:cNvPr id="15" name="Text 13"/>
          <p:cNvSpPr/>
          <p:nvPr/>
        </p:nvSpPr>
        <p:spPr>
          <a:xfrm>
            <a:off x="290779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② VALIDATION GATE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0779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strict schema + rules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0779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authoritative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084832"/>
            <a:ext cx="50292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1572768"/>
            <a:ext cx="1828800" cy="1024128"/>
          </a:xfrm>
          <a:prstGeom prst="rect">
            <a:avLst/>
          </a:prstGeom>
          <a:solidFill>
            <a:srgbClr val="232B37"/>
          </a:solidFill>
          <a:ln w="25400">
            <a:solidFill>
              <a:srgbClr val="4FBF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572768"/>
            <a:ext cx="1828800" cy="73152"/>
          </a:xfrm>
          <a:prstGeom prst="rect">
            <a:avLst/>
          </a:prstGeom>
          <a:solidFill>
            <a:srgbClr val="4FBF87"/>
          </a:solidFill>
          <a:ln/>
        </p:spPr>
      </p:sp>
      <p:sp>
        <p:nvSpPr>
          <p:cNvPr id="21" name="Text 19"/>
          <p:cNvSpPr/>
          <p:nvPr/>
        </p:nvSpPr>
        <p:spPr>
          <a:xfrm>
            <a:off x="523951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③ DETERMINISTIC SCORING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3951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rescore · critic · arbiter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3951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authoritative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95160" y="2084832"/>
            <a:ext cx="50292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98080" y="1572768"/>
            <a:ext cx="1828800" cy="102412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1572768"/>
            <a:ext cx="1828800" cy="73152"/>
          </a:xfrm>
          <a:prstGeom prst="rect">
            <a:avLst/>
          </a:prstGeom>
          <a:solidFill>
            <a:srgbClr val="6BA0D8"/>
          </a:solidFill>
          <a:ln/>
        </p:spPr>
      </p:sp>
      <p:sp>
        <p:nvSpPr>
          <p:cNvPr id="27" name="Text 25"/>
          <p:cNvSpPr/>
          <p:nvPr/>
        </p:nvSpPr>
        <p:spPr>
          <a:xfrm>
            <a:off x="757123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④ AI RULE AUDIT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7123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 gaps · read-only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7123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advisory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326880" y="2084832"/>
            <a:ext cx="50292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29800" y="1572768"/>
            <a:ext cx="1828800" cy="1024128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29800" y="1572768"/>
            <a:ext cx="1828800" cy="7315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3" name="Text 31"/>
          <p:cNvSpPr/>
          <p:nvPr/>
        </p:nvSpPr>
        <p:spPr>
          <a:xfrm>
            <a:off x="9902952" y="175564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⑤ HUMAN APPROVAL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02952" y="2176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logged sign-off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902952" y="23957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spc="1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272491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(blue) only proposes and observes.  The green rail — validation + scoring — is deterministic and authoritative.  A human signs.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32461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GATE, LIVE — a hallucinated Brent 9000 and a made-up grade, rejected before scoring: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095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4FBF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MODEL, LIVE ✦ — NVIDIA, on every update: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3566160"/>
            <a:ext cx="7223760" cy="889412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40" name="Image 0" descr="/private/tmp/claude-501/-Users-aman-Downloads-ET-Hackathon/ab60fbe1-6f03-48e5-aa7b-8b187ce1082a/scratchpad/deck-assets/ai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566160"/>
            <a:ext cx="7223760" cy="889412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502920" y="3566160"/>
            <a:ext cx="7223760" cy="889412"/>
          </a:xfrm>
          <a:prstGeom prst="rect">
            <a:avLst/>
          </a:prstGeom>
          <a:ln w="19050">
            <a:solidFill>
              <a:srgbClr val="4FBF8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09560" y="3566160"/>
            <a:ext cx="3749040" cy="1051391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43" name="Image 1" descr="/private/tmp/claude-501/-Users-aman-Downloads-ET-Hackathon/ab60fbe1-6f03-48e5-aa7b-8b187ce1082a/scratchpad/deck-assets/live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566160"/>
            <a:ext cx="3749040" cy="1051391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909560" y="3566160"/>
            <a:ext cx="3749040" cy="1051391"/>
          </a:xfrm>
          <a:prstGeom prst="rect">
            <a:avLst/>
          </a:prstGeom>
          <a:ln w="19050">
            <a:solidFill>
              <a:srgbClr val="4FBF87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909560" y="4663271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Llama-3.3-70B rationale, recorded for replay — captured from the app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502920" y="4965023"/>
            <a:ext cx="11155680" cy="1170432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02920" y="4965023"/>
            <a:ext cx="64008" cy="11704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8" name="Text 44"/>
          <p:cNvSpPr/>
          <p:nvPr/>
        </p:nvSpPr>
        <p:spPr>
          <a:xfrm>
            <a:off x="777240" y="5093039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live model makes the call. The record replays byte-identically. A human signs.</a:t>
            </a:r>
            <a:endParaRPr lang="en-US" sz="1500" dirty="0"/>
          </a:p>
        </p:txBody>
      </p:sp>
      <p:sp>
        <p:nvSpPr>
          <p:cNvPr id="49" name="Text 45"/>
          <p:cNvSpPr/>
          <p:nvPr/>
        </p:nvSpPr>
        <p:spPr>
          <a:xfrm>
            <a:off x="777240" y="5467943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LLM runs LIVE on every decision-state change — NVIDIA Llama-3.3-70B through a key-holding Cloudflare Worker; the browser never sees a key. Every completion is RECORDED and replays byte-identically; the validation gate still drops anything fabricated before it can touch a score; scoring stays deterministic and offline-checkable.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for sense-making and auditing · deterministic logic for scoring · humans for approval. Try it live: AI ASSIST ✦ → “⚠ Hallucination test.”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IS CONFIG, NOT 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strait this week. Every chokepoint, every commodity, next.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6949440" cy="43434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private/tmp/claude-501/-Users-aman-Downloads-ET-Hackathon/ab60fbe1-6f03-48e5-aa7b-8b187ce1082a/scratchpad/deck-asset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94944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1554480"/>
            <a:ext cx="6949440" cy="4343400"/>
          </a:xfrm>
          <a:prstGeom prst="rect">
            <a:avLst/>
          </a:prstGeom>
          <a:ln w="12700">
            <a:solidFill>
              <a:srgbClr val="3A45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15727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engine is graph-agnostic. A new theatre — a new chokepoint, a new commodity — is a new data bundle, not new code.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0" y="2743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BUYER LADDER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3063240"/>
            <a:ext cx="3977640" cy="4572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1248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Refiner trading desk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3630168"/>
            <a:ext cx="3977640" cy="4572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6301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National oil company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80960" y="4197096"/>
            <a:ext cx="3977640" cy="4572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4197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0" y="41970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Ministry crisis cell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680960" y="48920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footer: live feeds (Kpler / Spire) are stubs behind the same 3-method FeedAdapter interface as the replay (src/engine/feeds.ts) — “production license.”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pure engine, proven deterministic on an arbitrary graph in scripts/check.mjs. They show the disruption; we show the signed, auditable decision.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days to four minutes.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 the argument is on the record.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that argues under rules you wrote. A machine — not a model — that enforces them. A decision you can audit.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737360"/>
            <a:ext cx="3657600" cy="2344783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8" name="Image 0" descr="/private/tmp/claude-501/-Users-aman-Downloads-ET-Hackathon/ab60fbe1-6f03-48e5-aa7b-8b187ce1082a/scratchpad/deck-assets/charter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737360"/>
            <a:ext cx="3657600" cy="234478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55280" y="1737360"/>
            <a:ext cx="3657600" cy="2344783"/>
          </a:xfrm>
          <a:prstGeom prst="rect">
            <a:avLst/>
          </a:prstGeom>
          <a:ln w="12700">
            <a:solidFill>
              <a:srgbClr val="3A455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415529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signed audit trace — hash-chained, VERIFIED, one-click printable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4572000"/>
            <a:ext cx="7040880" cy="914400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572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+ REPO   </a:t>
            </a:r>
            <a:pPr algn="l" indent="0" marL="0">
              <a:buNone/>
            </a:pPr>
            <a:r>
              <a:rPr lang="en-US" sz="1500" b="1" dirty="0">
                <a:solidFill>
                  <a:srgbClr val="6BA0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github.com/banthia14aman/ET-Hackathon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5852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300" kern="0" dirty="0">
                <a:solidFill>
                  <a:srgbClr val="D9A44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TRIN△ETRA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556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△ TRINETRA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21208" y="484632"/>
            <a:ext cx="146304" cy="2560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— THE HINDSIGHT-BIAS FIREWALL (Q&amp;A)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155680" cy="12802"/>
          </a:xfrm>
          <a:prstGeom prst="rect">
            <a:avLst/>
          </a:prstGeom>
          <a:solidFill>
            <a:srgbClr val="3A4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“Did you already know the answer?”  We built the firewall for that.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1155680" cy="1060704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64008" cy="10607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8249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FROZEN KB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682496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Structural knowledge cites only pre-2019 sources. The system doesn't “know about Angola” — it emerges from a query. Basrah Medium (a 2021 grade) was removed from the dataset entirely.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24912"/>
            <a:ext cx="11155680" cy="1060704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24912"/>
            <a:ext cx="64008" cy="10607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STATED CALIBRATION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calibration constant is a stated, sensitivity-swept assumption anchored to earlier crises (Abqaiq 2019, Suez 2021, Red Sea 2023-24) — never fit to the Hormuz-2026 outcomes the demo replays.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11155680" cy="1060704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877056"/>
            <a:ext cx="64008" cy="10607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8678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OUTCOME CLAIMS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98678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don't predict outcomes (nobody predicts a 30-day US waiver — that's an explicit branch). The testable claim: the options India chose were in our top five, surfaced weeks earlier.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11155680" cy="1060704"/>
          </a:xfrm>
          <a:prstGeom prst="rect">
            <a:avLst/>
          </a:prstGeom>
          <a:solidFill>
            <a:srgbClr val="232B37"/>
          </a:solidFill>
          <a:ln w="12700">
            <a:solidFill>
              <a:srgbClr val="3A45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5029200"/>
            <a:ext cx="64008" cy="10607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389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C0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MISSES SHOWN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513892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9D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didn't score perfectly — the misses are on the scorecard, in red. Replayed real feeds, time-compressed; no live-feed claims. Scenario-choreography events are labeled SYNTH, never upgraded.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 claim: replayed real feeds, frozen KB, stated+swept calibration, top-5 recall with misses shown. May never claim: live feeds, outcome prediction, or R for a synthetic number.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TRINETRA — governed crude-supply decisions</dc:title>
  <dc:subject>PptxGenJS Presentation</dc:subject>
  <dc:creator>TRINETRA</dc:creator>
  <cp:lastModifiedBy>TRINETRA</cp:lastModifiedBy>
  <cp:revision>1</cp:revision>
  <dcterms:created xsi:type="dcterms:W3CDTF">2026-07-22T15:09:06Z</dcterms:created>
  <dcterms:modified xsi:type="dcterms:W3CDTF">2026-07-22T15:09:06Z</dcterms:modified>
</cp:coreProperties>
</file>